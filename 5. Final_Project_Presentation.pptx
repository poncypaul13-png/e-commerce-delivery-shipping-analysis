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9" r:id="rId20"/>
    <p:sldId id="280" r:id="rId21"/>
    <p:sldId id="274" r:id="rId22"/>
    <p:sldId id="275" r:id="rId23"/>
    <p:sldId id="281" r:id="rId24"/>
    <p:sldId id="283" r:id="rId25"/>
    <p:sldId id="284" r:id="rId26"/>
    <p:sldId id="276"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7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731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My name is Poncy Paul. Today I will present my final project on E-Commerce Delivery and Shipping Performance Analysis using Python.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E-Commerce Delivery and Shipping Performance Analysis Using Python</a:t>
            </a:r>
          </a:p>
          <a:p>
            <a:endParaRPr/>
          </a:p>
          <a:p>
            <a:r>
              <a:t>## Problem Statement</a:t>
            </a:r>
          </a:p>
          <a:p>
            <a:endParaRPr/>
          </a:p>
          <a:p>
            <a:r>
              <a:t>E-commerce companies handle large volumes of orders across different locations, shipping methods, carriers, and product categories. Delivery delays, shipping costs, returns, and customer satisfaction can significantly affect overall business performance.</a:t>
            </a:r>
          </a:p>
          <a:p>
            <a:endParaRPr/>
          </a:p>
          <a:p>
            <a:r>
              <a:t>This project aims to analyze e-commerce delivery and shipping data using Python to identify delivery patterns, evaluate shipping performance, understand the factors associated with delays and returns, and derive meaningful insights that can support better operational and customer-service decisions.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five objectives clearly. This is exploratory analysis, not a predictive machine-learning project.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was loaded from E-commerce_Delivery_Shipping_Data_2026.csv. Mention the workflow and libraries.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Handling Missing Values</a:t>
            </a:r>
          </a:p>
          <a:p>
            <a:endParaRPr/>
          </a:p>
          <a:p>
            <a:r>
              <a:t>The `return_reason` column contains 41,375 missing values. Cross-tabulation confirmed that all missing values correspond to orders where no return was requested. Therefore, these values are contextual rather than data-quality issues and are replaced with `Not Applicable`.</a:t>
            </a:r>
          </a:p>
          <a:p>
            <a:r>
              <a:t>### Feature Engineering</a:t>
            </a:r>
          </a:p>
          <a:p>
            <a:endParaRPr/>
          </a:p>
          <a:p>
            <a:r>
              <a:t>New features are created from the existing data to support deeper exploratory analysis. The order month is extracted from `order_date` to analyze monthly order and delivery patterns.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logical sequence of the notebook, rather than explaining every line of code.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1 from the notebook.</a:t>
            </a:r>
          </a:p>
          <a:p>
            <a:endParaRPr/>
          </a:p>
          <a:p>
            <a:r>
              <a:t>Explain the chart: The majority of orders are in the Delivered category (44,184), while 4,007 orders are In Transit and 1,806 are Delayed. Only 3 orders are recorded as Failed Delivery, indicating that failed deliveries are very rare in the dataset.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2 from the notebook.</a:t>
            </a:r>
          </a:p>
          <a:p>
            <a:endParaRPr/>
          </a:p>
          <a:p>
            <a:r>
              <a:t>Explain the chart: Standard is the most frequently used shipping method with 17,027 orders, followed by International with 15,839 orders and Express with 9,696 orders. Economy accounts for 5,577 orders, while Same Day is the least frequently used method with 1,861 orders.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3 from the notebook.</a:t>
            </a:r>
          </a:p>
          <a:p>
            <a:endParaRPr/>
          </a:p>
          <a:p>
            <a:r>
              <a:t>Explain the chart: International shipping has the highest average delivery delay at 2.08 days, followed by Economy at 1.50 days. Standard and Express show lower average delays of 0.96 and 0.62 days respectively, while Same Day has the lowest average delay at 0.29 days.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4 from the notebook.</a:t>
            </a:r>
          </a:p>
          <a:p>
            <a:endParaRPr/>
          </a:p>
          <a:p>
            <a:r>
              <a:t>Explain the chart: International shipping has the highest average shipping cost at $204.40, followed by Same Day at $136.58 and Express at $107.58. Standard has an average cost of $71.55, while Economy has the lowest average shipping cost at $48.91.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5 from the notebook.</a:t>
            </a:r>
          </a:p>
          <a:p>
            <a:endParaRPr/>
          </a:p>
          <a:p>
            <a:r>
              <a:t>Explain the chart: Delivery delays vary noticeably across weather conditions. Snow shows the highest median delay and the greatest spread, followed by Storm, while Clear and Cloudy conditions generally show lower delays. Several high-delay outliers are also observed across the weather categories.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6 from the notebook.</a:t>
            </a:r>
          </a:p>
          <a:p>
            <a:endParaRPr/>
          </a:p>
          <a:p>
            <a:r>
              <a:t>Explain the chart: The scatter plot shows a strong positive relationship between delivery distance and shipping cost. Longer delivery distances are generally associated with higher shipping costs, which is consistent with the correlation value of 0.82.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7 from the notebook.</a:t>
            </a:r>
          </a:p>
          <a:p>
            <a:endParaRPr/>
          </a:p>
          <a:p>
            <a:r>
              <a:t>Explain the chart: Lower customer ratings are associated with higher delivery delays. Ratings 1–3 show higher typical delays, while ratings 4 and 5 generally have little or no delay. This pattern is consistent with the negative correlation (-0.51) between delivery delay and customer rating.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8 from the notebook.</a:t>
            </a:r>
          </a:p>
          <a:p>
            <a:endParaRPr/>
          </a:p>
          <a:p>
            <a:r>
              <a:t>Explain the chart: Monthly order volume remains relatively stable throughout the year with moderate fluctuations. July records the highest number of orders, while February records the lowest. No strong overall increasing or decreasing trend is observed.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9 from the notebook.</a:t>
            </a:r>
          </a:p>
          <a:p>
            <a:endParaRPr/>
          </a:p>
          <a:p>
            <a:r>
              <a:t>Explain the chart: The heatmap shows strong positive relationships between promised and actual delivery days (0.93) and between distance and shipping cost (0.82). Actual delivery days and delivery delay are also strongly positively related (0.71). Delivery delay has a moderate negative relationship with customer rating (-0.51), indicating that higher delays are associated with lower customer ratings.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10 from the notebook.</a:t>
            </a:r>
          </a:p>
          <a:p>
            <a:endParaRPr/>
          </a:p>
          <a:p>
            <a:r>
              <a:t>Explain the chart: The majority of orders (82.8%) did not have a return request, while 17.2% of orders were returned. This shows that return requests represent a relatively smaller proportion of the total orders.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11 from the notebook.</a:t>
            </a:r>
          </a:p>
          <a:p>
            <a:endParaRPr/>
          </a:p>
          <a:p>
            <a:r>
              <a:t>Explain the chart: Product Defect is the most common reason for product returns, followed by Damaged Package. Not as Described, Changed Mind, and Wrong Item also contribute to returns, while Late Delivery is the least common return reason in the dataset.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as visualization 12 from the notebook.</a:t>
            </a:r>
          </a:p>
          <a:p>
            <a:endParaRPr/>
          </a:p>
          <a:p>
            <a:r>
              <a:t>Explain the chart: Average delivery delay varies across carriers. GlobalExpress shows the highest average delay at approximately 1.61 days, followed by PrimeDelivery and BlueRoute. SwiftShip records the lowest average delay at approximately 0.99 days, indicating comparatively lower delivery delays among the carriers analyzed.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this visualization: This visualization compares the on-time delivery performance of different shipping methods. A higher percentage indicates better delivery reliability. The analysis helps identify which shipping methods are more effective in meeting promised delivery times.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this visualization: This visualization compares the average delivery delay across different distance categories. It helps determine whether delivery distance has an impact on delivery delays and identifies which distance category experiences higher delays.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Key Findings</a:t>
            </a:r>
          </a:p>
          <a:p>
            <a:endParaRPr/>
          </a:p>
          <a:p>
            <a:r>
              <a:t>- Standard is the most frequently used shipping method, while Same Day is the least used.</a:t>
            </a:r>
          </a:p>
          <a:p>
            <a:r>
              <a:t>- International shipping has the highest average delivery delay (2.08 days) and the highest average shipping cost ($204.40).</a:t>
            </a:r>
          </a:p>
          <a:p>
            <a:r>
              <a:t>- Same Day shipping has the lowest average delivery delay (0.29 days) and the highest average customer rating (3.84).</a:t>
            </a:r>
          </a:p>
          <a:p>
            <a:r>
              <a:t>- Snow and Storm conditions are associated with higher delivery delays compared with other weather conditions.</a:t>
            </a:r>
          </a:p>
          <a:p>
            <a:r>
              <a:t>- Delivery distance has a strong positive relationship with shipping cost (correlation = 0.82).</a:t>
            </a:r>
          </a:p>
          <a:p>
            <a:r>
              <a:t>- Delivery delay has a moderate negative relationship with customer rating (correlation = -0.51).</a:t>
            </a:r>
          </a:p>
          <a:p>
            <a:r>
              <a:t>- Monthly order volumes remain relatively stable, with July recording the highest volume and February the lowest.</a:t>
            </a:r>
          </a:p>
          <a:p>
            <a:r>
              <a:t>- 17.2% of orders have a return request, with Product Defect being the most common return reason.</a:t>
            </a:r>
          </a:p>
          <a:p>
            <a:r>
              <a:t>- Carrier performance varies, with GlobalExpress showing the highest average delivery delay and SwiftShip the lowest among the carriers analyzed.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Business Recommendations</a:t>
            </a:r>
          </a:p>
          <a:p>
            <a:endParaRPr/>
          </a:p>
          <a:p>
            <a:r>
              <a:t>- Optimize international shipping operations to reduce delivery delays and control higher shipping costs.</a:t>
            </a:r>
          </a:p>
          <a:p>
            <a:r>
              <a:t>- Prioritize reliable shipping methods for time-sensitive orders, particularly where faster delivery is required.</a:t>
            </a:r>
          </a:p>
          <a:p>
            <a:r>
              <a:t>- Strengthen contingency planning for Snow and Storm conditions, as these conditions are associated with higher delivery delays.</a:t>
            </a:r>
          </a:p>
          <a:p>
            <a:r>
              <a:t>- Consider delivery distance when planning shipping costs and logistics because longer distances are strongly associated with higher shipping costs.</a:t>
            </a:r>
          </a:p>
          <a:p>
            <a:r>
              <a:t>- Focus on reducing delivery delays to support better customer satisfaction, as higher delays are associated with lower customer ratings.</a:t>
            </a:r>
          </a:p>
          <a:p>
            <a:r>
              <a:t>- Improve product quality checks and packaging controls, since Product Defect and Damaged Package are major reasons for returns.</a:t>
            </a:r>
          </a:p>
          <a:p>
            <a:r>
              <a:t>- Review carrier performance regularly and investigate the operational factors contributing to differences in average delivery delays.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Power BI dashboard. Explain how KPI cards summarize the project, and filters allow viewers to investigate shipping methods, carriers, weather, customer segments and delivery statuses. Note that the dashboard shows 17.3% return rate while the Python report rounds to 17.2%; avoid claiming the two values are identical.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report provides the written evidence for the project: objectives, source dataset, cleaning decisions, Python methods, findings, recommendations and limitations. The report contains 12 documented figures, while the latest notebook has 14 saved charts.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Python was used to investigate and prepare findings, Power BI to communicate operational indicators visually, and the report to document the approach and evidence. The latest notebook has 14 charts, but the earlier report documents 12.</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6. Conclusion</a:t>
            </a:r>
          </a:p>
          <a:p>
            <a:endParaRPr/>
          </a:p>
          <a:p>
            <a:r>
              <a:t>This project analyzed e-commerce delivery and shipping performance using Python. The analysis identified meaningful patterns in shipping methods, delivery delays, shipping costs, weather conditions, customer ratings, returns, and carrier performance.</a:t>
            </a:r>
          </a:p>
          <a:p>
            <a:endParaRPr/>
          </a:p>
          <a:p>
            <a:r>
              <a:t>The findings show that delivery performance varies across shipping methods, weather conditions, and carriers. Delivery distance is strongly associated with shipping cost, while higher delivery delays are associated with lower customer ratings. Product defects and damaged packages are also important contributors to product returns.</a:t>
            </a:r>
          </a:p>
          <a:p>
            <a:endParaRPr/>
          </a:p>
          <a:p>
            <a:r>
              <a:t>Overall, the analysis demonstrates how data-driven insights can support improvements in delivery efficiency, cost management, customer satisfaction, and return reduction.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evaluator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1" name="Oval 50"/>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0008108" y="625906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471148" y="561898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185148" y="461314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288268" y="369874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596628" y="278434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1425428" y="182422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602468" y="90982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139428" y="269748"/>
            <a:ext cx="100584" cy="100584"/>
          </a:xfrm>
          <a:prstGeom prst="ellipse">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a:spAutoFit/>
          </a:bodyPr>
          <a:lstStyle/>
          <a:p>
            <a:pPr>
              <a:defRPr sz="1000" b="1">
                <a:solidFill>
                  <a:srgbClr val="28E1C9"/>
                </a:solidFill>
                <a:latin typeface="Aptos"/>
              </a:defRPr>
            </a:pPr>
            <a:r>
              <a:t>PYTHON  /  DATA ANALYTICS  /  FINAL PROJECT</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rPr dirty="0"/>
              <a:t>E-COMMERCE DELIVERY &amp; SHIPPING</a:t>
            </a:r>
          </a:p>
          <a:p>
            <a:pPr>
              <a:defRPr sz="3100" b="1">
                <a:solidFill>
                  <a:srgbClr val="F4F8FD"/>
                </a:solidFill>
                <a:latin typeface="Aptos"/>
              </a:defRPr>
            </a:pPr>
            <a:r>
              <a:rPr dirty="0"/>
              <a:t>PERFORMANCE ANALYSIS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01</a:t>
            </a:r>
          </a:p>
        </p:txBody>
      </p:sp>
      <p:sp>
        <p:nvSpPr>
          <p:cNvPr id="8" name="TextBox 7"/>
          <p:cNvSpPr txBox="1"/>
          <p:nvPr/>
        </p:nvSpPr>
        <p:spPr>
          <a:xfrm>
            <a:off x="512064" y="2052828"/>
            <a:ext cx="6492238" cy="446276"/>
          </a:xfrm>
          <a:prstGeom prst="rect">
            <a:avLst/>
          </a:prstGeom>
          <a:noFill/>
        </p:spPr>
        <p:txBody>
          <a:bodyPr wrap="square">
            <a:spAutoFit/>
          </a:bodyPr>
          <a:lstStyle/>
          <a:p>
            <a:pPr>
              <a:defRPr sz="2300" b="0">
                <a:solidFill>
                  <a:srgbClr val="28E1C9"/>
                </a:solidFill>
                <a:latin typeface="Aptos"/>
              </a:defRPr>
            </a:pPr>
            <a:r>
              <a:rPr dirty="0"/>
              <a:t>From order data to delivery performance insights</a:t>
            </a:r>
          </a:p>
        </p:txBody>
      </p:sp>
      <p:sp>
        <p:nvSpPr>
          <p:cNvPr id="9" name="Rounded Rectangle 8"/>
          <p:cNvSpPr/>
          <p:nvPr/>
        </p:nvSpPr>
        <p:spPr>
          <a:xfrm>
            <a:off x="548640" y="2607096"/>
            <a:ext cx="4572000" cy="1005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906012"/>
            <a:ext cx="4206240" cy="365760"/>
          </a:xfrm>
          <a:prstGeom prst="rect">
            <a:avLst/>
          </a:prstGeom>
          <a:noFill/>
        </p:spPr>
        <p:txBody>
          <a:bodyPr wrap="square">
            <a:spAutoFit/>
          </a:bodyPr>
          <a:lstStyle/>
          <a:p>
            <a:pPr>
              <a:defRPr sz="1900" b="0">
                <a:solidFill>
                  <a:srgbClr val="F4F8FD"/>
                </a:solidFill>
                <a:latin typeface="Aptos"/>
              </a:defRPr>
            </a:pPr>
            <a:r>
              <a:rPr dirty="0"/>
              <a:t>50,000 orders  •  Python EDA</a:t>
            </a:r>
          </a:p>
        </p:txBody>
      </p:sp>
      <p:sp>
        <p:nvSpPr>
          <p:cNvPr id="52" name="TextBox 51"/>
          <p:cNvSpPr txBox="1"/>
          <p:nvPr/>
        </p:nvSpPr>
        <p:spPr>
          <a:xfrm>
            <a:off x="670560" y="3977408"/>
            <a:ext cx="3217740" cy="2046714"/>
          </a:xfrm>
          <a:prstGeom prst="rect">
            <a:avLst/>
          </a:prstGeom>
          <a:noFill/>
        </p:spPr>
        <p:txBody>
          <a:bodyPr wrap="none">
            <a:spAutoFit/>
          </a:bodyPr>
          <a:lstStyle/>
          <a:p>
            <a:pPr>
              <a:defRPr sz="1500" b="1">
                <a:solidFill>
                  <a:srgbClr val="F0F7FC"/>
                </a:solidFill>
                <a:latin typeface="Aptos"/>
              </a:defRPr>
            </a:pPr>
            <a:r>
              <a:rPr lang="en-US" sz="1600" dirty="0"/>
              <a:t>PRESENTED BY		: PONCY PAUL</a:t>
            </a:r>
          </a:p>
          <a:p>
            <a:pPr>
              <a:defRPr sz="1500" b="1">
                <a:solidFill>
                  <a:srgbClr val="F0F7FC"/>
                </a:solidFill>
                <a:latin typeface="Aptos"/>
              </a:defRPr>
            </a:pPr>
            <a:endParaRPr lang="en-AE" sz="1600" dirty="0"/>
          </a:p>
          <a:p>
            <a:pPr>
              <a:defRPr sz="1500" b="1">
                <a:solidFill>
                  <a:srgbClr val="F0F7FC"/>
                </a:solidFill>
                <a:latin typeface="Aptos"/>
              </a:defRPr>
            </a:pPr>
            <a:r>
              <a:rPr sz="1600" dirty="0"/>
              <a:t>FACULTY </a:t>
            </a:r>
            <a:r>
              <a:rPr lang="en-US" sz="1600" dirty="0"/>
              <a:t>			:</a:t>
            </a:r>
            <a:r>
              <a:rPr sz="1600" dirty="0"/>
              <a:t>  ANUSHA H</a:t>
            </a:r>
            <a:endParaRPr lang="en-US" sz="1600" dirty="0"/>
          </a:p>
          <a:p>
            <a:pPr>
              <a:defRPr sz="1500" b="1">
                <a:solidFill>
                  <a:srgbClr val="F0F7FC"/>
                </a:solidFill>
                <a:latin typeface="Aptos"/>
              </a:defRPr>
            </a:pPr>
            <a:endParaRPr lang="en-US" sz="1600" dirty="0"/>
          </a:p>
          <a:p>
            <a:pPr>
              <a:defRPr sz="1500" b="1">
                <a:solidFill>
                  <a:srgbClr val="F0F7FC"/>
                </a:solidFill>
                <a:latin typeface="Aptos"/>
              </a:defRPr>
            </a:pPr>
            <a:r>
              <a:rPr lang="en-US" sz="1600" dirty="0"/>
              <a:t>COORDINATOR		:  SONA</a:t>
            </a:r>
          </a:p>
          <a:p>
            <a:pPr>
              <a:defRPr sz="1500" b="1">
                <a:solidFill>
                  <a:srgbClr val="F0F7FC"/>
                </a:solidFill>
                <a:latin typeface="Aptos"/>
              </a:defRPr>
            </a:pPr>
            <a:endParaRPr lang="en-US" sz="1600" dirty="0"/>
          </a:p>
          <a:p>
            <a:pPr>
              <a:defRPr sz="1500" b="1">
                <a:solidFill>
                  <a:srgbClr val="F0F7FC"/>
                </a:solidFill>
                <a:latin typeface="Aptos"/>
              </a:defRPr>
            </a:pPr>
            <a:r>
              <a:rPr lang="en-US" sz="1600" dirty="0"/>
              <a:t>BATCH			:  DA52</a:t>
            </a:r>
          </a:p>
          <a:p>
            <a:pPr>
              <a:defRPr sz="1500" b="1">
                <a:solidFill>
                  <a:srgbClr val="F0F7FC"/>
                </a:solidFill>
                <a:latin typeface="Aptos"/>
              </a:defRP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0" name="Oval 59"/>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91008"/>
            <a:ext cx="8110729"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480061" y="914908"/>
            <a:ext cx="7260324" cy="569387"/>
          </a:xfrm>
          <a:prstGeom prst="rect">
            <a:avLst/>
          </a:prstGeom>
          <a:noFill/>
        </p:spPr>
        <p:txBody>
          <a:bodyPr wrap="square">
            <a:spAutoFit/>
          </a:bodyPr>
          <a:lstStyle/>
          <a:p>
            <a:pPr>
              <a:defRPr sz="3100" b="1">
                <a:solidFill>
                  <a:srgbClr val="F4F8FD"/>
                </a:solidFill>
                <a:latin typeface="Aptos"/>
              </a:defRPr>
            </a:pPr>
            <a:r>
              <a:t>THE BUSINESS PROBLEM</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7081518" cy="276999"/>
          </a:xfrm>
          <a:prstGeom prst="rect">
            <a:avLst/>
          </a:prstGeom>
          <a:noFill/>
        </p:spPr>
        <p:txBody>
          <a:bodyPr wrap="square">
            <a:spAutoFit/>
          </a:bodyPr>
          <a:lstStyle/>
          <a:p>
            <a:pPr>
              <a:defRPr sz="900" b="0">
                <a:solidFill>
                  <a:srgbClr val="AFC6D7"/>
                </a:solidFill>
                <a:latin typeface="Aptos"/>
              </a:defRPr>
            </a:pPr>
            <a:r>
              <a:rPr sz="1200" dirty="0"/>
              <a:t>PONCY PAUL </a:t>
            </a:r>
            <a:r>
              <a:rPr lang="en-US" sz="1200" dirty="0"/>
              <a:t> |BATCH : DA52 | </a:t>
            </a:r>
            <a:r>
              <a:rPr sz="1200" dirty="0"/>
              <a:t>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02</a:t>
            </a:r>
          </a:p>
        </p:txBody>
      </p:sp>
      <p:sp>
        <p:nvSpPr>
          <p:cNvPr id="8" name="Rounded Rectangle 7"/>
          <p:cNvSpPr/>
          <p:nvPr/>
        </p:nvSpPr>
        <p:spPr>
          <a:xfrm>
            <a:off x="658368" y="2011680"/>
            <a:ext cx="7260325"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309360" cy="353943"/>
          </a:xfrm>
          <a:prstGeom prst="rect">
            <a:avLst/>
          </a:prstGeom>
          <a:noFill/>
        </p:spPr>
        <p:txBody>
          <a:bodyPr wrap="square">
            <a:spAutoFit/>
          </a:bodyPr>
          <a:lstStyle/>
          <a:p>
            <a:pPr>
              <a:defRPr sz="1700" b="0">
                <a:solidFill>
                  <a:srgbClr val="F4F8FD"/>
                </a:solidFill>
                <a:latin typeface="Aptos"/>
              </a:defRPr>
            </a:pPr>
            <a:r>
              <a:rPr dirty="0"/>
              <a:t>Delivery performance affects customer experience and logistics cost.</a:t>
            </a:r>
          </a:p>
        </p:txBody>
      </p:sp>
      <p:sp>
        <p:nvSpPr>
          <p:cNvPr id="11" name="Rounded Rectangle 10"/>
          <p:cNvSpPr/>
          <p:nvPr/>
        </p:nvSpPr>
        <p:spPr>
          <a:xfrm>
            <a:off x="658368" y="2807208"/>
            <a:ext cx="7260325"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096000" cy="353943"/>
          </a:xfrm>
          <a:prstGeom prst="rect">
            <a:avLst/>
          </a:prstGeom>
          <a:noFill/>
        </p:spPr>
        <p:txBody>
          <a:bodyPr wrap="square">
            <a:spAutoFit/>
          </a:bodyPr>
          <a:lstStyle/>
          <a:p>
            <a:pPr>
              <a:defRPr sz="1700" b="0">
                <a:solidFill>
                  <a:srgbClr val="F4F8FD"/>
                </a:solidFill>
                <a:latin typeface="Aptos"/>
              </a:defRPr>
            </a:pPr>
            <a:r>
              <a:rPr dirty="0"/>
              <a:t>Orders differ by shipping method, carrier, distance and weather.</a:t>
            </a:r>
          </a:p>
        </p:txBody>
      </p:sp>
      <p:sp>
        <p:nvSpPr>
          <p:cNvPr id="14" name="Rounded Rectangle 13"/>
          <p:cNvSpPr/>
          <p:nvPr/>
        </p:nvSpPr>
        <p:spPr>
          <a:xfrm>
            <a:off x="658367" y="3602736"/>
            <a:ext cx="7260319"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6096000" cy="353943"/>
          </a:xfrm>
          <a:prstGeom prst="rect">
            <a:avLst/>
          </a:prstGeom>
          <a:noFill/>
        </p:spPr>
        <p:txBody>
          <a:bodyPr wrap="square">
            <a:spAutoFit/>
          </a:bodyPr>
          <a:lstStyle/>
          <a:p>
            <a:pPr>
              <a:defRPr sz="1700" b="0">
                <a:solidFill>
                  <a:srgbClr val="F4F8FD"/>
                </a:solidFill>
                <a:latin typeface="Aptos"/>
              </a:defRPr>
            </a:pPr>
            <a:r>
              <a:t>Analysis can reveal delays, cost drivers and return patterns.</a:t>
            </a:r>
          </a:p>
        </p:txBody>
      </p:sp>
      <p:sp>
        <p:nvSpPr>
          <p:cNvPr id="17" name="Rounded Rectangle 16"/>
          <p:cNvSpPr/>
          <p:nvPr/>
        </p:nvSpPr>
        <p:spPr>
          <a:xfrm>
            <a:off x="658368" y="4398264"/>
            <a:ext cx="7260325"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6095998" cy="353943"/>
          </a:xfrm>
          <a:prstGeom prst="rect">
            <a:avLst/>
          </a:prstGeom>
          <a:noFill/>
        </p:spPr>
        <p:txBody>
          <a:bodyPr wrap="square">
            <a:spAutoFit/>
          </a:bodyPr>
          <a:lstStyle/>
          <a:p>
            <a:pPr>
              <a:defRPr sz="1700" b="0">
                <a:solidFill>
                  <a:srgbClr val="F4F8FD"/>
                </a:solidFill>
                <a:latin typeface="Aptos"/>
              </a:defRPr>
            </a:pPr>
            <a:r>
              <a:t>Goal: translate shipping data into actionable business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3" name="Oval 6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6999"/>
          </a:xfrm>
          <a:prstGeom prst="rect">
            <a:avLst/>
          </a:prstGeom>
          <a:noFill/>
        </p:spPr>
        <p:txBody>
          <a:bodyPr wrap="square">
            <a:spAutoFit/>
          </a:bodyPr>
          <a:lstStyle/>
          <a:p>
            <a:pPr>
              <a:defRPr sz="3100" b="1">
                <a:solidFill>
                  <a:srgbClr val="F4F8FD"/>
                </a:solidFill>
                <a:latin typeface="Aptos"/>
              </a:defRPr>
            </a:pPr>
            <a:r>
              <a:rPr lang="en-US" sz="1200" dirty="0">
                <a:solidFill>
                  <a:srgbClr val="00B0F0"/>
                </a:solidFill>
              </a:rPr>
              <a:t>E-COMMERCE DELIVERY &amp; SHIPPING PERFORMANCE ANALYSIS</a:t>
            </a:r>
          </a:p>
        </p:txBody>
      </p:sp>
      <p:sp>
        <p:nvSpPr>
          <p:cNvPr id="4" name="TextBox 3"/>
          <p:cNvSpPr txBox="1"/>
          <p:nvPr/>
        </p:nvSpPr>
        <p:spPr>
          <a:xfrm>
            <a:off x="548640" y="741680"/>
            <a:ext cx="10972800" cy="914400"/>
          </a:xfrm>
          <a:prstGeom prst="rect">
            <a:avLst/>
          </a:prstGeom>
          <a:noFill/>
        </p:spPr>
        <p:txBody>
          <a:bodyPr wrap="square">
            <a:spAutoFit/>
          </a:bodyPr>
          <a:lstStyle/>
          <a:p>
            <a:pPr>
              <a:defRPr sz="3100" b="1">
                <a:solidFill>
                  <a:srgbClr val="F4F8FD"/>
                </a:solidFill>
                <a:latin typeface="Aptos"/>
              </a:defRPr>
            </a:pPr>
            <a:r>
              <a:t>PROJECT OBJECTIVES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4306" y="6444997"/>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03</a:t>
            </a:r>
          </a:p>
        </p:txBody>
      </p:sp>
      <p:sp>
        <p:nvSpPr>
          <p:cNvPr id="8" name="Rounded Rectangle 7"/>
          <p:cNvSpPr/>
          <p:nvPr/>
        </p:nvSpPr>
        <p:spPr>
          <a:xfrm>
            <a:off x="658368" y="2011680"/>
            <a:ext cx="726032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309360" cy="353943"/>
          </a:xfrm>
          <a:prstGeom prst="rect">
            <a:avLst/>
          </a:prstGeom>
          <a:noFill/>
        </p:spPr>
        <p:txBody>
          <a:bodyPr wrap="square">
            <a:spAutoFit/>
          </a:bodyPr>
          <a:lstStyle/>
          <a:p>
            <a:pPr>
              <a:defRPr sz="1700" b="0">
                <a:solidFill>
                  <a:srgbClr val="F4F8FD"/>
                </a:solidFill>
                <a:latin typeface="Aptos"/>
              </a:defRPr>
            </a:pPr>
            <a:r>
              <a:t>Assess delivery status and shipping-method usage.</a:t>
            </a:r>
          </a:p>
        </p:txBody>
      </p:sp>
      <p:sp>
        <p:nvSpPr>
          <p:cNvPr id="11" name="Rounded Rectangle 10"/>
          <p:cNvSpPr/>
          <p:nvPr/>
        </p:nvSpPr>
        <p:spPr>
          <a:xfrm>
            <a:off x="658368" y="2807208"/>
            <a:ext cx="726032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347764" cy="353943"/>
          </a:xfrm>
          <a:prstGeom prst="rect">
            <a:avLst/>
          </a:prstGeom>
          <a:noFill/>
        </p:spPr>
        <p:txBody>
          <a:bodyPr wrap="square">
            <a:spAutoFit/>
          </a:bodyPr>
          <a:lstStyle/>
          <a:p>
            <a:pPr>
              <a:defRPr sz="1700" b="0">
                <a:solidFill>
                  <a:srgbClr val="F4F8FD"/>
                </a:solidFill>
                <a:latin typeface="Aptos"/>
              </a:defRPr>
            </a:pPr>
            <a:r>
              <a:t>Compare delays and shipping costs across methods and carriers.</a:t>
            </a:r>
          </a:p>
        </p:txBody>
      </p:sp>
      <p:sp>
        <p:nvSpPr>
          <p:cNvPr id="14" name="Rounded Rectangle 13"/>
          <p:cNvSpPr/>
          <p:nvPr/>
        </p:nvSpPr>
        <p:spPr>
          <a:xfrm>
            <a:off x="658368" y="3602736"/>
            <a:ext cx="7260319"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6126475" cy="353943"/>
          </a:xfrm>
          <a:prstGeom prst="rect">
            <a:avLst/>
          </a:prstGeom>
          <a:noFill/>
        </p:spPr>
        <p:txBody>
          <a:bodyPr wrap="square">
            <a:spAutoFit/>
          </a:bodyPr>
          <a:lstStyle/>
          <a:p>
            <a:pPr>
              <a:defRPr sz="1700" b="0">
                <a:solidFill>
                  <a:srgbClr val="F4F8FD"/>
                </a:solidFill>
                <a:latin typeface="Aptos"/>
              </a:defRPr>
            </a:pPr>
            <a:r>
              <a:t>Examine weather, distance and customer-rating relationships.</a:t>
            </a:r>
          </a:p>
        </p:txBody>
      </p:sp>
      <p:sp>
        <p:nvSpPr>
          <p:cNvPr id="17" name="Rounded Rectangle 16"/>
          <p:cNvSpPr/>
          <p:nvPr/>
        </p:nvSpPr>
        <p:spPr>
          <a:xfrm>
            <a:off x="658368" y="4398264"/>
            <a:ext cx="726032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6228074" cy="353943"/>
          </a:xfrm>
          <a:prstGeom prst="rect">
            <a:avLst/>
          </a:prstGeom>
          <a:noFill/>
        </p:spPr>
        <p:txBody>
          <a:bodyPr wrap="square">
            <a:spAutoFit/>
          </a:bodyPr>
          <a:lstStyle/>
          <a:p>
            <a:pPr>
              <a:defRPr sz="1700" b="0">
                <a:solidFill>
                  <a:srgbClr val="F4F8FD"/>
                </a:solidFill>
                <a:latin typeface="Aptos"/>
              </a:defRPr>
            </a:pPr>
            <a:r>
              <a:t>Analyze return requests and return reasons.</a:t>
            </a:r>
          </a:p>
        </p:txBody>
      </p:sp>
      <p:sp>
        <p:nvSpPr>
          <p:cNvPr id="20" name="Rounded Rectangle 19"/>
          <p:cNvSpPr/>
          <p:nvPr/>
        </p:nvSpPr>
        <p:spPr>
          <a:xfrm>
            <a:off x="690373" y="5274564"/>
            <a:ext cx="7260320"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5340096"/>
            <a:ext cx="457200" cy="292608"/>
          </a:xfrm>
          <a:prstGeom prst="rect">
            <a:avLst/>
          </a:prstGeom>
          <a:noFill/>
        </p:spPr>
        <p:txBody>
          <a:bodyPr wrap="square">
            <a:spAutoFit/>
          </a:bodyPr>
          <a:lstStyle/>
          <a:p>
            <a:pPr>
              <a:defRPr sz="1500" b="1">
                <a:solidFill>
                  <a:srgbClr val="28E1C9"/>
                </a:solidFill>
                <a:latin typeface="Aptos"/>
              </a:defRPr>
            </a:pPr>
            <a:r>
              <a:t>05</a:t>
            </a:r>
          </a:p>
        </p:txBody>
      </p:sp>
      <p:sp>
        <p:nvSpPr>
          <p:cNvPr id="22" name="TextBox 21"/>
          <p:cNvSpPr txBox="1"/>
          <p:nvPr/>
        </p:nvSpPr>
        <p:spPr>
          <a:xfrm>
            <a:off x="1463040" y="5321807"/>
            <a:ext cx="6228074" cy="353943"/>
          </a:xfrm>
          <a:prstGeom prst="rect">
            <a:avLst/>
          </a:prstGeom>
          <a:noFill/>
        </p:spPr>
        <p:txBody>
          <a:bodyPr wrap="square">
            <a:spAutoFit/>
          </a:bodyPr>
          <a:lstStyle/>
          <a:p>
            <a:pPr>
              <a:defRPr sz="1700" b="0">
                <a:solidFill>
                  <a:srgbClr val="F4F8FD"/>
                </a:solidFill>
                <a:latin typeface="Aptos"/>
              </a:defRPr>
            </a:pPr>
            <a:r>
              <a:t>Recommend improvements based on exploratory findings.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3" name="Oval 6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DATASET &amp; TOOLS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04</a:t>
            </a:r>
          </a:p>
        </p:txBody>
      </p:sp>
      <p:sp>
        <p:nvSpPr>
          <p:cNvPr id="8" name="Rounded Rectangle 7"/>
          <p:cNvSpPr/>
          <p:nvPr/>
        </p:nvSpPr>
        <p:spPr>
          <a:xfrm>
            <a:off x="658368" y="2011680"/>
            <a:ext cx="7516368"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482080" cy="353943"/>
          </a:xfrm>
          <a:prstGeom prst="rect">
            <a:avLst/>
          </a:prstGeom>
          <a:noFill/>
        </p:spPr>
        <p:txBody>
          <a:bodyPr wrap="square">
            <a:spAutoFit/>
          </a:bodyPr>
          <a:lstStyle/>
          <a:p>
            <a:pPr>
              <a:defRPr sz="1700" b="0">
                <a:solidFill>
                  <a:srgbClr val="F4F8FD"/>
                </a:solidFill>
                <a:latin typeface="Aptos"/>
              </a:defRPr>
            </a:pPr>
            <a:r>
              <a:t>Dataset: 50,000 e-commerce orders.</a:t>
            </a:r>
          </a:p>
        </p:txBody>
      </p:sp>
      <p:sp>
        <p:nvSpPr>
          <p:cNvPr id="11" name="Rounded Rectangle 10"/>
          <p:cNvSpPr/>
          <p:nvPr/>
        </p:nvSpPr>
        <p:spPr>
          <a:xfrm>
            <a:off x="658368" y="2807208"/>
            <a:ext cx="7516368"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482080" cy="353943"/>
          </a:xfrm>
          <a:prstGeom prst="rect">
            <a:avLst/>
          </a:prstGeom>
          <a:noFill/>
        </p:spPr>
        <p:txBody>
          <a:bodyPr wrap="square">
            <a:spAutoFit/>
          </a:bodyPr>
          <a:lstStyle/>
          <a:p>
            <a:pPr>
              <a:defRPr sz="1700" b="0">
                <a:solidFill>
                  <a:srgbClr val="F4F8FD"/>
                </a:solidFill>
                <a:latin typeface="Aptos"/>
              </a:defRPr>
            </a:pPr>
            <a:r>
              <a:t>Python with Pandas and NumPy for data handling.</a:t>
            </a:r>
          </a:p>
        </p:txBody>
      </p:sp>
      <p:sp>
        <p:nvSpPr>
          <p:cNvPr id="14" name="Rounded Rectangle 13"/>
          <p:cNvSpPr/>
          <p:nvPr/>
        </p:nvSpPr>
        <p:spPr>
          <a:xfrm>
            <a:off x="658368" y="3602736"/>
            <a:ext cx="7536484"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6482080" cy="353943"/>
          </a:xfrm>
          <a:prstGeom prst="rect">
            <a:avLst/>
          </a:prstGeom>
          <a:noFill/>
        </p:spPr>
        <p:txBody>
          <a:bodyPr wrap="square">
            <a:spAutoFit/>
          </a:bodyPr>
          <a:lstStyle/>
          <a:p>
            <a:pPr>
              <a:defRPr sz="1700" b="0">
                <a:solidFill>
                  <a:srgbClr val="F4F8FD"/>
                </a:solidFill>
                <a:latin typeface="Aptos"/>
              </a:defRPr>
            </a:pPr>
            <a:r>
              <a:t>Matplotlib and Seaborn for data visualization.</a:t>
            </a:r>
          </a:p>
        </p:txBody>
      </p:sp>
      <p:sp>
        <p:nvSpPr>
          <p:cNvPr id="17" name="Rounded Rectangle 16"/>
          <p:cNvSpPr/>
          <p:nvPr/>
        </p:nvSpPr>
        <p:spPr>
          <a:xfrm>
            <a:off x="658368" y="4398264"/>
            <a:ext cx="7536484"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6482080" cy="353943"/>
          </a:xfrm>
          <a:prstGeom prst="rect">
            <a:avLst/>
          </a:prstGeom>
          <a:noFill/>
        </p:spPr>
        <p:txBody>
          <a:bodyPr wrap="square">
            <a:spAutoFit/>
          </a:bodyPr>
          <a:lstStyle/>
          <a:p>
            <a:pPr>
              <a:defRPr sz="1700" b="0">
                <a:solidFill>
                  <a:srgbClr val="F4F8FD"/>
                </a:solidFill>
                <a:latin typeface="Aptos"/>
              </a:defRPr>
            </a:pPr>
            <a:r>
              <a:t>GroupBy, pivot tables and correlations for comparative analysis.</a:t>
            </a:r>
          </a:p>
        </p:txBody>
      </p:sp>
      <p:sp>
        <p:nvSpPr>
          <p:cNvPr id="20" name="Rounded Rectangle 19"/>
          <p:cNvSpPr/>
          <p:nvPr/>
        </p:nvSpPr>
        <p:spPr>
          <a:xfrm>
            <a:off x="658368" y="5193792"/>
            <a:ext cx="7536484"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5340096"/>
            <a:ext cx="457200" cy="292608"/>
          </a:xfrm>
          <a:prstGeom prst="rect">
            <a:avLst/>
          </a:prstGeom>
          <a:noFill/>
        </p:spPr>
        <p:txBody>
          <a:bodyPr wrap="square">
            <a:spAutoFit/>
          </a:bodyPr>
          <a:lstStyle/>
          <a:p>
            <a:pPr>
              <a:defRPr sz="1500" b="1">
                <a:solidFill>
                  <a:srgbClr val="28E1C9"/>
                </a:solidFill>
                <a:latin typeface="Aptos"/>
              </a:defRPr>
            </a:pPr>
            <a:r>
              <a:t>05</a:t>
            </a:r>
          </a:p>
        </p:txBody>
      </p:sp>
      <p:sp>
        <p:nvSpPr>
          <p:cNvPr id="22" name="TextBox 21"/>
          <p:cNvSpPr txBox="1"/>
          <p:nvPr/>
        </p:nvSpPr>
        <p:spPr>
          <a:xfrm>
            <a:off x="1463040" y="5321807"/>
            <a:ext cx="6656833" cy="353943"/>
          </a:xfrm>
          <a:prstGeom prst="rect">
            <a:avLst/>
          </a:prstGeom>
          <a:noFill/>
        </p:spPr>
        <p:txBody>
          <a:bodyPr wrap="square">
            <a:spAutoFit/>
          </a:bodyPr>
          <a:lstStyle/>
          <a:p>
            <a:pPr>
              <a:defRPr sz="1700" b="0">
                <a:solidFill>
                  <a:srgbClr val="F4F8FD"/>
                </a:solidFill>
                <a:latin typeface="Aptos"/>
              </a:defRPr>
            </a:pPr>
            <a:r>
              <a:t>Order dates used to engineer month and day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3" name="Oval 6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DATA PREPROCESSING</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05</a:t>
            </a:r>
          </a:p>
        </p:txBody>
      </p:sp>
      <p:sp>
        <p:nvSpPr>
          <p:cNvPr id="8" name="Rounded Rectangle 7"/>
          <p:cNvSpPr/>
          <p:nvPr/>
        </p:nvSpPr>
        <p:spPr>
          <a:xfrm>
            <a:off x="658368" y="2011680"/>
            <a:ext cx="7671815"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347764" cy="353943"/>
          </a:xfrm>
          <a:prstGeom prst="rect">
            <a:avLst/>
          </a:prstGeom>
          <a:noFill/>
        </p:spPr>
        <p:txBody>
          <a:bodyPr wrap="square">
            <a:spAutoFit/>
          </a:bodyPr>
          <a:lstStyle/>
          <a:p>
            <a:pPr>
              <a:defRPr sz="1700" b="0">
                <a:solidFill>
                  <a:srgbClr val="F4F8FD"/>
                </a:solidFill>
                <a:latin typeface="Aptos"/>
              </a:defRPr>
            </a:pPr>
            <a:r>
              <a:t>Checked missing values and duplicate records.</a:t>
            </a:r>
          </a:p>
        </p:txBody>
      </p:sp>
      <p:sp>
        <p:nvSpPr>
          <p:cNvPr id="11" name="Rounded Rectangle 10"/>
          <p:cNvSpPr/>
          <p:nvPr/>
        </p:nvSpPr>
        <p:spPr>
          <a:xfrm>
            <a:off x="658368" y="2807208"/>
            <a:ext cx="7699248"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693408" cy="353943"/>
          </a:xfrm>
          <a:prstGeom prst="rect">
            <a:avLst/>
          </a:prstGeom>
          <a:noFill/>
        </p:spPr>
        <p:txBody>
          <a:bodyPr wrap="square">
            <a:spAutoFit/>
          </a:bodyPr>
          <a:lstStyle/>
          <a:p>
            <a:pPr>
              <a:defRPr sz="1700" b="0">
                <a:solidFill>
                  <a:srgbClr val="F4F8FD"/>
                </a:solidFill>
                <a:latin typeface="Aptos"/>
              </a:defRPr>
            </a:pPr>
            <a:r>
              <a:t>41,375 missing return_reason values related to no return request.</a:t>
            </a:r>
          </a:p>
        </p:txBody>
      </p:sp>
      <p:sp>
        <p:nvSpPr>
          <p:cNvPr id="14" name="Rounded Rectangle 13"/>
          <p:cNvSpPr/>
          <p:nvPr/>
        </p:nvSpPr>
        <p:spPr>
          <a:xfrm>
            <a:off x="594361" y="3578539"/>
            <a:ext cx="7754111"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6347764" cy="353943"/>
          </a:xfrm>
          <a:prstGeom prst="rect">
            <a:avLst/>
          </a:prstGeom>
          <a:noFill/>
        </p:spPr>
        <p:txBody>
          <a:bodyPr wrap="square">
            <a:spAutoFit/>
          </a:bodyPr>
          <a:lstStyle/>
          <a:p>
            <a:pPr>
              <a:defRPr sz="1700" b="0">
                <a:solidFill>
                  <a:srgbClr val="F4F8FD"/>
                </a:solidFill>
                <a:latin typeface="Aptos"/>
              </a:defRPr>
            </a:pPr>
            <a:r>
              <a:t>Filled those entries with “Not Applicable”.</a:t>
            </a:r>
          </a:p>
        </p:txBody>
      </p:sp>
      <p:sp>
        <p:nvSpPr>
          <p:cNvPr id="17" name="Rounded Rectangle 16"/>
          <p:cNvSpPr/>
          <p:nvPr/>
        </p:nvSpPr>
        <p:spPr>
          <a:xfrm>
            <a:off x="658368" y="4398264"/>
            <a:ext cx="7671815"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5963716" cy="353943"/>
          </a:xfrm>
          <a:prstGeom prst="rect">
            <a:avLst/>
          </a:prstGeom>
          <a:noFill/>
        </p:spPr>
        <p:txBody>
          <a:bodyPr wrap="square">
            <a:spAutoFit/>
          </a:bodyPr>
          <a:lstStyle/>
          <a:p>
            <a:pPr>
              <a:defRPr sz="1700" b="0">
                <a:solidFill>
                  <a:srgbClr val="F4F8FD"/>
                </a:solidFill>
                <a:latin typeface="Aptos"/>
              </a:defRPr>
            </a:pPr>
            <a:r>
              <a:t>Converted order_date to datetime.</a:t>
            </a:r>
          </a:p>
        </p:txBody>
      </p:sp>
      <p:sp>
        <p:nvSpPr>
          <p:cNvPr id="20" name="Rounded Rectangle 19"/>
          <p:cNvSpPr/>
          <p:nvPr/>
        </p:nvSpPr>
        <p:spPr>
          <a:xfrm>
            <a:off x="658368" y="5193792"/>
            <a:ext cx="7653529"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5340096"/>
            <a:ext cx="457200" cy="292608"/>
          </a:xfrm>
          <a:prstGeom prst="rect">
            <a:avLst/>
          </a:prstGeom>
          <a:noFill/>
        </p:spPr>
        <p:txBody>
          <a:bodyPr wrap="square">
            <a:spAutoFit/>
          </a:bodyPr>
          <a:lstStyle/>
          <a:p>
            <a:pPr>
              <a:defRPr sz="1500" b="1">
                <a:solidFill>
                  <a:srgbClr val="28E1C9"/>
                </a:solidFill>
                <a:latin typeface="Aptos"/>
              </a:defRPr>
            </a:pPr>
            <a:r>
              <a:t>05</a:t>
            </a:r>
          </a:p>
        </p:txBody>
      </p:sp>
      <p:sp>
        <p:nvSpPr>
          <p:cNvPr id="22" name="TextBox 21"/>
          <p:cNvSpPr txBox="1"/>
          <p:nvPr/>
        </p:nvSpPr>
        <p:spPr>
          <a:xfrm>
            <a:off x="1463040" y="5321807"/>
            <a:ext cx="6347764" cy="353943"/>
          </a:xfrm>
          <a:prstGeom prst="rect">
            <a:avLst/>
          </a:prstGeom>
          <a:noFill/>
        </p:spPr>
        <p:txBody>
          <a:bodyPr wrap="square">
            <a:spAutoFit/>
          </a:bodyPr>
          <a:lstStyle/>
          <a:p>
            <a:pPr>
              <a:defRPr sz="1700" b="0">
                <a:solidFill>
                  <a:srgbClr val="F4F8FD"/>
                </a:solidFill>
                <a:latin typeface="Aptos"/>
              </a:defRPr>
            </a:pPr>
            <a:r>
              <a:t>Created order_month and order_day columns.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3" name="Oval 6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ANALYSIS WORKFLOW</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3" y="6533388"/>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06</a:t>
            </a:r>
          </a:p>
        </p:txBody>
      </p:sp>
      <p:sp>
        <p:nvSpPr>
          <p:cNvPr id="8" name="Rounded Rectangle 7"/>
          <p:cNvSpPr/>
          <p:nvPr/>
        </p:nvSpPr>
        <p:spPr>
          <a:xfrm>
            <a:off x="658368" y="2011680"/>
            <a:ext cx="7002268"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441439" cy="353943"/>
          </a:xfrm>
          <a:prstGeom prst="rect">
            <a:avLst/>
          </a:prstGeom>
          <a:noFill/>
        </p:spPr>
        <p:txBody>
          <a:bodyPr wrap="square">
            <a:spAutoFit/>
          </a:bodyPr>
          <a:lstStyle/>
          <a:p>
            <a:pPr>
              <a:defRPr sz="1700" b="0">
                <a:solidFill>
                  <a:srgbClr val="F4F8FD"/>
                </a:solidFill>
                <a:latin typeface="Aptos"/>
              </a:defRPr>
            </a:pPr>
            <a:r>
              <a:t>1. Load and inspect the dataset</a:t>
            </a:r>
          </a:p>
        </p:txBody>
      </p:sp>
      <p:sp>
        <p:nvSpPr>
          <p:cNvPr id="11" name="Rounded Rectangle 10"/>
          <p:cNvSpPr/>
          <p:nvPr/>
        </p:nvSpPr>
        <p:spPr>
          <a:xfrm>
            <a:off x="658368" y="2807208"/>
            <a:ext cx="7013441"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347762" cy="353943"/>
          </a:xfrm>
          <a:prstGeom prst="rect">
            <a:avLst/>
          </a:prstGeom>
          <a:noFill/>
        </p:spPr>
        <p:txBody>
          <a:bodyPr wrap="square">
            <a:spAutoFit/>
          </a:bodyPr>
          <a:lstStyle/>
          <a:p>
            <a:pPr>
              <a:defRPr sz="1700" b="0">
                <a:solidFill>
                  <a:srgbClr val="F4F8FD"/>
                </a:solidFill>
                <a:latin typeface="Aptos"/>
              </a:defRPr>
            </a:pPr>
            <a:r>
              <a:t>2. Clean missing values and validate records</a:t>
            </a:r>
          </a:p>
        </p:txBody>
      </p:sp>
      <p:sp>
        <p:nvSpPr>
          <p:cNvPr id="14" name="Rounded Rectangle 13"/>
          <p:cNvSpPr/>
          <p:nvPr/>
        </p:nvSpPr>
        <p:spPr>
          <a:xfrm>
            <a:off x="658368" y="3602736"/>
            <a:ext cx="7002267"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5195620" cy="353943"/>
          </a:xfrm>
          <a:prstGeom prst="rect">
            <a:avLst/>
          </a:prstGeom>
          <a:noFill/>
        </p:spPr>
        <p:txBody>
          <a:bodyPr wrap="square">
            <a:spAutoFit/>
          </a:bodyPr>
          <a:lstStyle/>
          <a:p>
            <a:pPr>
              <a:defRPr sz="1700" b="0">
                <a:solidFill>
                  <a:srgbClr val="F4F8FD"/>
                </a:solidFill>
                <a:latin typeface="Aptos"/>
              </a:defRPr>
            </a:pPr>
            <a:r>
              <a:t>3. Engineer date-based features</a:t>
            </a:r>
          </a:p>
        </p:txBody>
      </p:sp>
      <p:sp>
        <p:nvSpPr>
          <p:cNvPr id="17" name="Rounded Rectangle 16"/>
          <p:cNvSpPr/>
          <p:nvPr/>
        </p:nvSpPr>
        <p:spPr>
          <a:xfrm>
            <a:off x="638557" y="4408799"/>
            <a:ext cx="703325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6053323" cy="353943"/>
          </a:xfrm>
          <a:prstGeom prst="rect">
            <a:avLst/>
          </a:prstGeom>
          <a:noFill/>
        </p:spPr>
        <p:txBody>
          <a:bodyPr wrap="square">
            <a:spAutoFit/>
          </a:bodyPr>
          <a:lstStyle/>
          <a:p>
            <a:pPr>
              <a:defRPr sz="1700" b="0">
                <a:solidFill>
                  <a:srgbClr val="F4F8FD"/>
                </a:solidFill>
                <a:latin typeface="Aptos"/>
              </a:defRPr>
            </a:pPr>
            <a:r>
              <a:t>4. Summarize, group and cross-tabulate</a:t>
            </a:r>
          </a:p>
        </p:txBody>
      </p:sp>
      <p:sp>
        <p:nvSpPr>
          <p:cNvPr id="20" name="Rounded Rectangle 19"/>
          <p:cNvSpPr/>
          <p:nvPr/>
        </p:nvSpPr>
        <p:spPr>
          <a:xfrm>
            <a:off x="658368" y="5193792"/>
            <a:ext cx="7013441"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5340096"/>
            <a:ext cx="457200" cy="292608"/>
          </a:xfrm>
          <a:prstGeom prst="rect">
            <a:avLst/>
          </a:prstGeom>
          <a:noFill/>
        </p:spPr>
        <p:txBody>
          <a:bodyPr wrap="square">
            <a:spAutoFit/>
          </a:bodyPr>
          <a:lstStyle/>
          <a:p>
            <a:pPr>
              <a:defRPr sz="1500" b="1">
                <a:solidFill>
                  <a:srgbClr val="28E1C9"/>
                </a:solidFill>
                <a:latin typeface="Aptos"/>
              </a:defRPr>
            </a:pPr>
            <a:r>
              <a:t>05</a:t>
            </a:r>
          </a:p>
        </p:txBody>
      </p:sp>
      <p:sp>
        <p:nvSpPr>
          <p:cNvPr id="22" name="TextBox 21"/>
          <p:cNvSpPr txBox="1"/>
          <p:nvPr/>
        </p:nvSpPr>
        <p:spPr>
          <a:xfrm>
            <a:off x="1463039" y="5321807"/>
            <a:ext cx="4500873" cy="353943"/>
          </a:xfrm>
          <a:prstGeom prst="rect">
            <a:avLst/>
          </a:prstGeom>
          <a:noFill/>
        </p:spPr>
        <p:txBody>
          <a:bodyPr wrap="square">
            <a:spAutoFit/>
          </a:bodyPr>
          <a:lstStyle/>
          <a:p>
            <a:pPr>
              <a:defRPr sz="1700" b="0">
                <a:solidFill>
                  <a:srgbClr val="F4F8FD"/>
                </a:solidFill>
                <a:latin typeface="Aptos"/>
              </a:defRPr>
            </a:pPr>
            <a:r>
              <a:t>5. Visualize patterns and recommend 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DELIVERY STATUS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07</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42.png"/>
          <p:cNvPicPr>
            <a:picLocks noChangeAspect="1"/>
          </p:cNvPicPr>
          <p:nvPr/>
        </p:nvPicPr>
        <p:blipFill>
          <a:blip r:embed="rId3"/>
          <a:stretch>
            <a:fillRect/>
          </a:stretch>
        </p:blipFill>
        <p:spPr>
          <a:xfrm>
            <a:off x="900683" y="2127629"/>
            <a:ext cx="6473953" cy="4015490"/>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The majority of orders are in the Delivered category (44,184), while 4,007 orders are In Transit and 1,806 are Delayed. Only 3 orders are recorded as Failed Delivery, indicating that failed deliveries are very rare in the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SHIPPING METHOD MIX</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08</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45.png"/>
          <p:cNvPicPr>
            <a:picLocks noChangeAspect="1"/>
          </p:cNvPicPr>
          <p:nvPr/>
        </p:nvPicPr>
        <p:blipFill>
          <a:blip r:embed="rId3"/>
          <a:stretch>
            <a:fillRect/>
          </a:stretch>
        </p:blipFill>
        <p:spPr>
          <a:xfrm>
            <a:off x="868680" y="2152079"/>
            <a:ext cx="6473953" cy="4015490"/>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Standard is the most frequently used shipping method with 17,027 orders, followed by International with 15,839 orders and Express with 9,696 orders. Economy accounts for 5,577 orders, while Same Day is the least frequently used method with 1,861 orders.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DELIVERY DELAY BY SHIPPING METHOD</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09</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48.png"/>
          <p:cNvPicPr>
            <a:picLocks noChangeAspect="1"/>
          </p:cNvPicPr>
          <p:nvPr/>
        </p:nvPicPr>
        <p:blipFill>
          <a:blip r:embed="rId3"/>
          <a:stretch>
            <a:fillRect/>
          </a:stretch>
        </p:blipFill>
        <p:spPr>
          <a:xfrm>
            <a:off x="919276" y="2194560"/>
            <a:ext cx="6311189" cy="3914535"/>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International shipping has the highest average delivery delay at 2.08 days, followed by Economy at 1.50 days. Standard and Express show lower average delays of 0.96 and 0.62 days respectively, while Same Day has the lowest average delay at 0.29 days.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SHIPPING COST BY METHOD</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30832"/>
          </a:xfrm>
          <a:prstGeom prst="rect">
            <a:avLst/>
          </a:prstGeom>
          <a:noFill/>
        </p:spPr>
        <p:txBody>
          <a:bodyPr wrap="square">
            <a:spAutoFit/>
          </a:bodyPr>
          <a:lstStyle/>
          <a:p>
            <a:pPr>
              <a:defRPr sz="900" b="0">
                <a:solidFill>
                  <a:srgbClr val="AFC6D7"/>
                </a:solidFill>
                <a:latin typeface="Aptos"/>
              </a:defRPr>
            </a:pPr>
            <a:r>
              <a:rPr lang="en-US" sz="9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10</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51.png"/>
          <p:cNvPicPr>
            <a:picLocks noChangeAspect="1"/>
          </p:cNvPicPr>
          <p:nvPr/>
        </p:nvPicPr>
        <p:blipFill>
          <a:blip r:embed="rId3"/>
          <a:stretch>
            <a:fillRect/>
          </a:stretch>
        </p:blipFill>
        <p:spPr>
          <a:xfrm>
            <a:off x="847344" y="2166225"/>
            <a:ext cx="6311189" cy="3914535"/>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International shipping has the highest average shipping cost at $204.40, followed by Same Day at $136.58 and Express at $107.58. Standard has an average cost of $71.55, while Economy has the lowest average shipping cost at $48.91.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WEATHER &amp; DELIVERY DELAYS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11</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54.png"/>
          <p:cNvPicPr>
            <a:picLocks noChangeAspect="1"/>
          </p:cNvPicPr>
          <p:nvPr/>
        </p:nvPicPr>
        <p:blipFill>
          <a:blip r:embed="rId3"/>
          <a:stretch>
            <a:fillRect/>
          </a:stretch>
        </p:blipFill>
        <p:spPr>
          <a:xfrm>
            <a:off x="731519" y="2204280"/>
            <a:ext cx="6766560" cy="3729600"/>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Delivery delays vary noticeably across weather conditions. Snow shows the highest median delay and the greatest spread, followed by Storm, while Clear and Cloudy conditions generally show lower delays. Several high-delay outliers are also observed across the weather categories.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2545" y="269623"/>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DISTANCE VS SHIPPING COST</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12</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57.png"/>
          <p:cNvPicPr>
            <a:picLocks noChangeAspect="1"/>
          </p:cNvPicPr>
          <p:nvPr/>
        </p:nvPicPr>
        <p:blipFill>
          <a:blip r:embed="rId3"/>
          <a:stretch>
            <a:fillRect/>
          </a:stretch>
        </p:blipFill>
        <p:spPr>
          <a:xfrm>
            <a:off x="853440" y="2068515"/>
            <a:ext cx="6534153" cy="4057965"/>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The scatter plot shows a strong positive relationship between delivery distance and shipping cost. Longer delivery distances are generally associated with higher shipping costs, which is consistent with the correlation value of 0.82.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DELAYS &amp; CUSTOMER RATINGS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13</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60.png"/>
          <p:cNvPicPr>
            <a:picLocks noChangeAspect="1"/>
          </p:cNvPicPr>
          <p:nvPr/>
        </p:nvPicPr>
        <p:blipFill>
          <a:blip r:embed="rId3"/>
          <a:stretch>
            <a:fillRect/>
          </a:stretch>
        </p:blipFill>
        <p:spPr>
          <a:xfrm>
            <a:off x="962268" y="2062001"/>
            <a:ext cx="6405464" cy="3973009"/>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Lower customer ratings are associated with higher delivery delays. Ratings 1–3 show higher typical delays, while ratings 4 and 5 generally have little or no delay. This pattern is consistent with the negative correlation (-0.51) between delivery delay and customer rating.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MONTHLY ORDER VOLUME</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14</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63.png"/>
          <p:cNvPicPr>
            <a:picLocks noChangeAspect="1"/>
          </p:cNvPicPr>
          <p:nvPr/>
        </p:nvPicPr>
        <p:blipFill>
          <a:blip r:embed="rId3"/>
          <a:stretch>
            <a:fillRect/>
          </a:stretch>
        </p:blipFill>
        <p:spPr>
          <a:xfrm>
            <a:off x="731519" y="2392834"/>
            <a:ext cx="6766560" cy="3352491"/>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Monthly order volume remains relatively stable throughout the year with moderate fluctuations. July records the highest number of orders, while February records the lowest. No strong overall increasing or decreasing trend is observed.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CORRELATION HEATMAP</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15</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66.png"/>
          <p:cNvPicPr>
            <a:picLocks noChangeAspect="1"/>
          </p:cNvPicPr>
          <p:nvPr/>
        </p:nvPicPr>
        <p:blipFill>
          <a:blip r:embed="rId3"/>
          <a:stretch>
            <a:fillRect/>
          </a:stretch>
        </p:blipFill>
        <p:spPr>
          <a:xfrm>
            <a:off x="1153104" y="1897380"/>
            <a:ext cx="5923390" cy="4343400"/>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The heatmap shows strong positive relationships between promised and actual delivery days (0.93) and between distance and shipping cost (0.82). Actual delivery days and delivery delay are also strongly positively related (0.71). Delivery delay has a moderate negative relationship with customer rating (-0.51), indicating that higher delays are associated with lower customer ratings.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RETURN REQUEST RATE</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16</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69.png"/>
          <p:cNvPicPr>
            <a:picLocks noChangeAspect="1"/>
          </p:cNvPicPr>
          <p:nvPr/>
        </p:nvPicPr>
        <p:blipFill>
          <a:blip r:embed="rId3"/>
          <a:stretch>
            <a:fillRect/>
          </a:stretch>
        </p:blipFill>
        <p:spPr>
          <a:xfrm>
            <a:off x="2020397" y="1897380"/>
            <a:ext cx="4188804" cy="4343400"/>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The majority of orders (82.8%) did not have a return request, while 17.2% of orders were returned. This shows that return requests represent a relatively smaller proportion of the total orders.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WHY CUSTOMERS REQUEST RETURNS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17</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72.png"/>
          <p:cNvPicPr>
            <a:picLocks noChangeAspect="1"/>
          </p:cNvPicPr>
          <p:nvPr/>
        </p:nvPicPr>
        <p:blipFill>
          <a:blip r:embed="rId3"/>
          <a:stretch>
            <a:fillRect/>
          </a:stretch>
        </p:blipFill>
        <p:spPr>
          <a:xfrm>
            <a:off x="731519" y="2204280"/>
            <a:ext cx="6766560" cy="3729600"/>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Product Defect is the most common reason for product returns, followed by Damaged Package. Not as Described, Changed Mind, and Wrong Item also contribute to returns, while Late Delivery is the least common return reason in the dataset.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3" name="Oval 5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CARRIER DELAY COMPARISON</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18</a:t>
            </a:r>
          </a:p>
        </p:txBody>
      </p:sp>
      <p:sp>
        <p:nvSpPr>
          <p:cNvPr id="8" name="Rounded Rectangle 7"/>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ecom_chart_75.png"/>
          <p:cNvPicPr>
            <a:picLocks noChangeAspect="1"/>
          </p:cNvPicPr>
          <p:nvPr/>
        </p:nvPicPr>
        <p:blipFill>
          <a:blip r:embed="rId3"/>
          <a:stretch>
            <a:fillRect/>
          </a:stretch>
        </p:blipFill>
        <p:spPr>
          <a:xfrm>
            <a:off x="731519" y="2392834"/>
            <a:ext cx="6766560" cy="3352491"/>
          </a:xfrm>
          <a:prstGeom prst="rect">
            <a:avLst/>
          </a:prstGeom>
        </p:spPr>
      </p:pic>
      <p:sp>
        <p:nvSpPr>
          <p:cNvPr id="10" name="Rounded Rectangle 9"/>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2" name="TextBox 11"/>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Average delivery delay varies across carriers. GlobalExpress shows the highest average delay at approximately 1.61 days, followed by PrimeDelivery and BlueRoute. SwiftShip records the lowest average delay at approximately 0.99 days, indicating comparatively lower delivery delays among the carriers analyzed.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2" name="Oval 51"/>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36"/>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000" b="1">
                <a:solidFill>
                  <a:srgbClr val="F4F8FD"/>
                </a:solidFill>
                <a:latin typeface="Aptos"/>
              </a:defRPr>
            </a:pPr>
            <a:r>
              <a:t>ON-TIME DELIVERY RATE BY SHIPPING METHOD</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ew_chart_78.png"/>
          <p:cNvPicPr>
            <a:picLocks noChangeAspect="1"/>
          </p:cNvPicPr>
          <p:nvPr/>
        </p:nvPicPr>
        <p:blipFill>
          <a:blip r:embed="rId3"/>
          <a:stretch>
            <a:fillRect/>
          </a:stretch>
        </p:blipFill>
        <p:spPr>
          <a:xfrm>
            <a:off x="923544" y="2084194"/>
            <a:ext cx="6473953" cy="4015490"/>
          </a:xfrm>
          <a:prstGeom prst="rect">
            <a:avLst/>
          </a:prstGeom>
        </p:spPr>
      </p:pic>
      <p:sp>
        <p:nvSpPr>
          <p:cNvPr id="8" name="Rounded Rectangle 7"/>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0" name="TextBox 9"/>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This visualization compares the on-time delivery performance of different shipping methods. A higher percentage indicates better delivery reliability. The analysis helps identify which shipping methods are more effective in meeting promised delivery times.</a:t>
            </a:r>
          </a:p>
        </p:txBody>
      </p:sp>
      <p:sp>
        <p:nvSpPr>
          <p:cNvPr id="11" name="TextBox 10"/>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2" name="Oval 51"/>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36"/>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000" b="1">
                <a:solidFill>
                  <a:srgbClr val="F4F8FD"/>
                </a:solidFill>
                <a:latin typeface="Aptos"/>
              </a:defRPr>
            </a:pPr>
            <a:r>
              <a:t>DELIVERY DELAY BY DISTANCE CATEGORY</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74519"/>
            <a:ext cx="7086600" cy="4434840"/>
          </a:xfrm>
          <a:prstGeom prst="round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ew_chart_81.png"/>
          <p:cNvPicPr>
            <a:picLocks noChangeAspect="1"/>
          </p:cNvPicPr>
          <p:nvPr/>
        </p:nvPicPr>
        <p:blipFill>
          <a:blip r:embed="rId3"/>
          <a:stretch>
            <a:fillRect/>
          </a:stretch>
        </p:blipFill>
        <p:spPr>
          <a:xfrm>
            <a:off x="888644" y="2118394"/>
            <a:ext cx="6388304" cy="3962366"/>
          </a:xfrm>
          <a:prstGeom prst="rect">
            <a:avLst/>
          </a:prstGeom>
        </p:spPr>
      </p:pic>
      <p:sp>
        <p:nvSpPr>
          <p:cNvPr id="8" name="Rounded Rectangle 7"/>
          <p:cNvSpPr/>
          <p:nvPr/>
        </p:nvSpPr>
        <p:spPr>
          <a:xfrm>
            <a:off x="7909560" y="1874519"/>
            <a:ext cx="3703320" cy="443484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74736" y="2194560"/>
            <a:ext cx="3108960" cy="457200"/>
          </a:xfrm>
          <a:prstGeom prst="rect">
            <a:avLst/>
          </a:prstGeom>
          <a:noFill/>
        </p:spPr>
        <p:txBody>
          <a:bodyPr wrap="square">
            <a:spAutoFit/>
          </a:bodyPr>
          <a:lstStyle/>
          <a:p>
            <a:pPr>
              <a:defRPr sz="1500" b="1">
                <a:solidFill>
                  <a:srgbClr val="28E1C9"/>
                </a:solidFill>
                <a:latin typeface="Aptos"/>
              </a:defRPr>
            </a:pPr>
            <a:r>
              <a:t>WHAT THE DATA SHOWS</a:t>
            </a:r>
          </a:p>
        </p:txBody>
      </p:sp>
      <p:sp>
        <p:nvSpPr>
          <p:cNvPr id="10" name="TextBox 9"/>
          <p:cNvSpPr txBox="1"/>
          <p:nvPr/>
        </p:nvSpPr>
        <p:spPr>
          <a:xfrm>
            <a:off x="8174736" y="2788920"/>
            <a:ext cx="3108960" cy="3154680"/>
          </a:xfrm>
          <a:prstGeom prst="rect">
            <a:avLst/>
          </a:prstGeom>
          <a:noFill/>
        </p:spPr>
        <p:txBody>
          <a:bodyPr wrap="square">
            <a:spAutoFit/>
          </a:bodyPr>
          <a:lstStyle/>
          <a:p>
            <a:pPr>
              <a:defRPr sz="1600" b="0">
                <a:solidFill>
                  <a:srgbClr val="F4F8FD"/>
                </a:solidFill>
                <a:latin typeface="Aptos"/>
              </a:defRPr>
            </a:pPr>
            <a:r>
              <a:t>This visualization compares the average delivery delay across different distance categories. It helps determine whether delivery distance has an impact on delivery delays and identifies which distance category experiences higher delays.</a:t>
            </a:r>
          </a:p>
        </p:txBody>
      </p:sp>
      <p:sp>
        <p:nvSpPr>
          <p:cNvPr id="11" name="TextBox 10"/>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3" name="Oval 6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KEY FINDINGS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19</a:t>
            </a:r>
          </a:p>
        </p:txBody>
      </p:sp>
      <p:sp>
        <p:nvSpPr>
          <p:cNvPr id="8" name="Rounded Rectangle 7"/>
          <p:cNvSpPr/>
          <p:nvPr/>
        </p:nvSpPr>
        <p:spPr>
          <a:xfrm>
            <a:off x="658368" y="2011680"/>
            <a:ext cx="746150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451598" cy="353943"/>
          </a:xfrm>
          <a:prstGeom prst="rect">
            <a:avLst/>
          </a:prstGeom>
          <a:noFill/>
        </p:spPr>
        <p:txBody>
          <a:bodyPr wrap="square">
            <a:spAutoFit/>
          </a:bodyPr>
          <a:lstStyle/>
          <a:p>
            <a:pPr>
              <a:defRPr sz="1700" b="0">
                <a:solidFill>
                  <a:srgbClr val="F4F8FD"/>
                </a:solidFill>
                <a:latin typeface="Aptos"/>
              </a:defRPr>
            </a:pPr>
            <a:r>
              <a:t>Standard shipping is the most frequently used method.</a:t>
            </a:r>
          </a:p>
        </p:txBody>
      </p:sp>
      <p:sp>
        <p:nvSpPr>
          <p:cNvPr id="11" name="Rounded Rectangle 10"/>
          <p:cNvSpPr/>
          <p:nvPr/>
        </p:nvSpPr>
        <p:spPr>
          <a:xfrm>
            <a:off x="658368" y="2807208"/>
            <a:ext cx="7461497"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197600" cy="353943"/>
          </a:xfrm>
          <a:prstGeom prst="rect">
            <a:avLst/>
          </a:prstGeom>
          <a:noFill/>
        </p:spPr>
        <p:txBody>
          <a:bodyPr wrap="square">
            <a:spAutoFit/>
          </a:bodyPr>
          <a:lstStyle/>
          <a:p>
            <a:pPr>
              <a:defRPr sz="1700" b="0">
                <a:solidFill>
                  <a:srgbClr val="F4F8FD"/>
                </a:solidFill>
                <a:latin typeface="Aptos"/>
              </a:defRPr>
            </a:pPr>
            <a:r>
              <a:t>International shipping has the highest average delay and cost.</a:t>
            </a:r>
          </a:p>
        </p:txBody>
      </p:sp>
      <p:sp>
        <p:nvSpPr>
          <p:cNvPr id="14" name="Rounded Rectangle 13"/>
          <p:cNvSpPr/>
          <p:nvPr/>
        </p:nvSpPr>
        <p:spPr>
          <a:xfrm>
            <a:off x="658368" y="3602736"/>
            <a:ext cx="7461493"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6347764" cy="353943"/>
          </a:xfrm>
          <a:prstGeom prst="rect">
            <a:avLst/>
          </a:prstGeom>
          <a:noFill/>
        </p:spPr>
        <p:txBody>
          <a:bodyPr wrap="square">
            <a:spAutoFit/>
          </a:bodyPr>
          <a:lstStyle/>
          <a:p>
            <a:pPr>
              <a:defRPr sz="1700" b="0">
                <a:solidFill>
                  <a:srgbClr val="F4F8FD"/>
                </a:solidFill>
                <a:latin typeface="Aptos"/>
              </a:defRPr>
            </a:pPr>
            <a:r>
              <a:t>Longer shipping distance is associated with higher cost.</a:t>
            </a:r>
          </a:p>
        </p:txBody>
      </p:sp>
      <p:sp>
        <p:nvSpPr>
          <p:cNvPr id="17" name="Rounded Rectangle 16"/>
          <p:cNvSpPr/>
          <p:nvPr/>
        </p:nvSpPr>
        <p:spPr>
          <a:xfrm>
            <a:off x="658368" y="4398264"/>
            <a:ext cx="7461490"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6309354" cy="353943"/>
          </a:xfrm>
          <a:prstGeom prst="rect">
            <a:avLst/>
          </a:prstGeom>
          <a:noFill/>
        </p:spPr>
        <p:txBody>
          <a:bodyPr wrap="square">
            <a:spAutoFit/>
          </a:bodyPr>
          <a:lstStyle/>
          <a:p>
            <a:pPr>
              <a:defRPr sz="1700" b="0">
                <a:solidFill>
                  <a:srgbClr val="F4F8FD"/>
                </a:solidFill>
                <a:latin typeface="Aptos"/>
              </a:defRPr>
            </a:pPr>
            <a:r>
              <a:t>Weather and delivery delays show notable variation.</a:t>
            </a:r>
          </a:p>
        </p:txBody>
      </p:sp>
      <p:sp>
        <p:nvSpPr>
          <p:cNvPr id="20" name="Rounded Rectangle 19"/>
          <p:cNvSpPr/>
          <p:nvPr/>
        </p:nvSpPr>
        <p:spPr>
          <a:xfrm>
            <a:off x="658368" y="5193792"/>
            <a:ext cx="746150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5340096"/>
            <a:ext cx="457200" cy="292608"/>
          </a:xfrm>
          <a:prstGeom prst="rect">
            <a:avLst/>
          </a:prstGeom>
          <a:noFill/>
        </p:spPr>
        <p:txBody>
          <a:bodyPr wrap="square">
            <a:spAutoFit/>
          </a:bodyPr>
          <a:lstStyle/>
          <a:p>
            <a:pPr>
              <a:defRPr sz="1500" b="1">
                <a:solidFill>
                  <a:srgbClr val="28E1C9"/>
                </a:solidFill>
                <a:latin typeface="Aptos"/>
              </a:defRPr>
            </a:pPr>
            <a:r>
              <a:t>05</a:t>
            </a:r>
          </a:p>
        </p:txBody>
      </p:sp>
      <p:sp>
        <p:nvSpPr>
          <p:cNvPr id="22" name="TextBox 21"/>
          <p:cNvSpPr txBox="1"/>
          <p:nvPr/>
        </p:nvSpPr>
        <p:spPr>
          <a:xfrm>
            <a:off x="1463040" y="5321807"/>
            <a:ext cx="6053326" cy="353943"/>
          </a:xfrm>
          <a:prstGeom prst="rect">
            <a:avLst/>
          </a:prstGeom>
          <a:noFill/>
        </p:spPr>
        <p:txBody>
          <a:bodyPr wrap="square">
            <a:spAutoFit/>
          </a:bodyPr>
          <a:lstStyle/>
          <a:p>
            <a:pPr>
              <a:defRPr sz="1700" b="0">
                <a:solidFill>
                  <a:srgbClr val="F4F8FD"/>
                </a:solidFill>
                <a:latin typeface="Aptos"/>
              </a:defRPr>
            </a:pPr>
            <a:r>
              <a:t>Return requests account for about 17.2% of orders.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3" name="Oval 62"/>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BUSINESS RECOMMENDATIONS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20</a:t>
            </a:r>
          </a:p>
        </p:txBody>
      </p:sp>
      <p:sp>
        <p:nvSpPr>
          <p:cNvPr id="8" name="Rounded Rectangle 7"/>
          <p:cNvSpPr/>
          <p:nvPr/>
        </p:nvSpPr>
        <p:spPr>
          <a:xfrm>
            <a:off x="658368" y="2011680"/>
            <a:ext cx="7536484"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347764" cy="353943"/>
          </a:xfrm>
          <a:prstGeom prst="rect">
            <a:avLst/>
          </a:prstGeom>
          <a:noFill/>
        </p:spPr>
        <p:txBody>
          <a:bodyPr wrap="square">
            <a:spAutoFit/>
          </a:bodyPr>
          <a:lstStyle/>
          <a:p>
            <a:pPr>
              <a:defRPr sz="1700" b="0">
                <a:solidFill>
                  <a:srgbClr val="F4F8FD"/>
                </a:solidFill>
                <a:latin typeface="Aptos"/>
              </a:defRPr>
            </a:pPr>
            <a:r>
              <a:t>Optimize international delivery routes and cost structures.</a:t>
            </a:r>
          </a:p>
        </p:txBody>
      </p:sp>
      <p:sp>
        <p:nvSpPr>
          <p:cNvPr id="11" name="Rounded Rectangle 10"/>
          <p:cNvSpPr/>
          <p:nvPr/>
        </p:nvSpPr>
        <p:spPr>
          <a:xfrm>
            <a:off x="658368" y="2807208"/>
            <a:ext cx="753648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347764" cy="353943"/>
          </a:xfrm>
          <a:prstGeom prst="rect">
            <a:avLst/>
          </a:prstGeom>
          <a:noFill/>
        </p:spPr>
        <p:txBody>
          <a:bodyPr wrap="square">
            <a:spAutoFit/>
          </a:bodyPr>
          <a:lstStyle/>
          <a:p>
            <a:pPr>
              <a:defRPr sz="1700" b="0">
                <a:solidFill>
                  <a:srgbClr val="F4F8FD"/>
                </a:solidFill>
                <a:latin typeface="Aptos"/>
              </a:defRPr>
            </a:pPr>
            <a:r>
              <a:t>Monitor carrier performance using delay-based KPIs.</a:t>
            </a:r>
          </a:p>
        </p:txBody>
      </p:sp>
      <p:sp>
        <p:nvSpPr>
          <p:cNvPr id="14" name="Rounded Rectangle 13"/>
          <p:cNvSpPr/>
          <p:nvPr/>
        </p:nvSpPr>
        <p:spPr>
          <a:xfrm>
            <a:off x="658368" y="3602736"/>
            <a:ext cx="7536484"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5742424" cy="353943"/>
          </a:xfrm>
          <a:prstGeom prst="rect">
            <a:avLst/>
          </a:prstGeom>
          <a:noFill/>
        </p:spPr>
        <p:txBody>
          <a:bodyPr wrap="square">
            <a:spAutoFit/>
          </a:bodyPr>
          <a:lstStyle/>
          <a:p>
            <a:pPr>
              <a:defRPr sz="1700" b="0">
                <a:solidFill>
                  <a:srgbClr val="F4F8FD"/>
                </a:solidFill>
                <a:latin typeface="Aptos"/>
              </a:defRPr>
            </a:pPr>
            <a:r>
              <a:t>Plan contingencies for adverse weather conditions.</a:t>
            </a:r>
          </a:p>
        </p:txBody>
      </p:sp>
      <p:sp>
        <p:nvSpPr>
          <p:cNvPr id="17" name="Rounded Rectangle 16"/>
          <p:cNvSpPr/>
          <p:nvPr/>
        </p:nvSpPr>
        <p:spPr>
          <a:xfrm>
            <a:off x="658368" y="4398264"/>
            <a:ext cx="7536484"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5541264" cy="353943"/>
          </a:xfrm>
          <a:prstGeom prst="rect">
            <a:avLst/>
          </a:prstGeom>
          <a:noFill/>
        </p:spPr>
        <p:txBody>
          <a:bodyPr wrap="square">
            <a:spAutoFit/>
          </a:bodyPr>
          <a:lstStyle/>
          <a:p>
            <a:pPr>
              <a:defRPr sz="1700" b="0">
                <a:solidFill>
                  <a:srgbClr val="F4F8FD"/>
                </a:solidFill>
                <a:latin typeface="Aptos"/>
              </a:defRPr>
            </a:pPr>
            <a:r>
              <a:t>Set realistic delivery expectations for customers.</a:t>
            </a:r>
          </a:p>
        </p:txBody>
      </p:sp>
      <p:sp>
        <p:nvSpPr>
          <p:cNvPr id="20" name="Rounded Rectangle 19"/>
          <p:cNvSpPr/>
          <p:nvPr/>
        </p:nvSpPr>
        <p:spPr>
          <a:xfrm>
            <a:off x="658368" y="5193792"/>
            <a:ext cx="7536484"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5340096"/>
            <a:ext cx="457200" cy="292608"/>
          </a:xfrm>
          <a:prstGeom prst="rect">
            <a:avLst/>
          </a:prstGeom>
          <a:noFill/>
        </p:spPr>
        <p:txBody>
          <a:bodyPr wrap="square">
            <a:spAutoFit/>
          </a:bodyPr>
          <a:lstStyle/>
          <a:p>
            <a:pPr>
              <a:defRPr sz="1500" b="1">
                <a:solidFill>
                  <a:srgbClr val="28E1C9"/>
                </a:solidFill>
                <a:latin typeface="Aptos"/>
              </a:defRPr>
            </a:pPr>
            <a:r>
              <a:t>05</a:t>
            </a:r>
          </a:p>
        </p:txBody>
      </p:sp>
      <p:sp>
        <p:nvSpPr>
          <p:cNvPr id="22" name="TextBox 21"/>
          <p:cNvSpPr txBox="1"/>
          <p:nvPr/>
        </p:nvSpPr>
        <p:spPr>
          <a:xfrm>
            <a:off x="1463040" y="5321807"/>
            <a:ext cx="6126476" cy="353943"/>
          </a:xfrm>
          <a:prstGeom prst="rect">
            <a:avLst/>
          </a:prstGeom>
          <a:noFill/>
        </p:spPr>
        <p:txBody>
          <a:bodyPr wrap="square">
            <a:spAutoFit/>
          </a:bodyPr>
          <a:lstStyle/>
          <a:p>
            <a:pPr>
              <a:defRPr sz="1700" b="0">
                <a:solidFill>
                  <a:srgbClr val="F4F8FD"/>
                </a:solidFill>
                <a:latin typeface="Aptos"/>
              </a:defRPr>
            </a:pPr>
            <a:r>
              <a:rPr dirty="0"/>
              <a:t>Reduce returns through product and packaging quality controls.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09728"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19456"/>
            <a:ext cx="10058400" cy="320040"/>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566354"/>
            <a:ext cx="10972800" cy="822960"/>
          </a:xfrm>
          <a:prstGeom prst="rect">
            <a:avLst/>
          </a:prstGeom>
          <a:noFill/>
        </p:spPr>
        <p:txBody>
          <a:bodyPr wrap="square">
            <a:spAutoFit/>
          </a:bodyPr>
          <a:lstStyle/>
          <a:p>
            <a:pPr>
              <a:defRPr sz="3000" b="1">
                <a:solidFill>
                  <a:srgbClr val="F4F8FD"/>
                </a:solidFill>
                <a:latin typeface="Aptos"/>
              </a:defRPr>
            </a:pPr>
            <a:r>
              <a:t>POWER BI DASHBOARD  /  OVERVIEW</a:t>
            </a:r>
          </a:p>
        </p:txBody>
      </p:sp>
      <p:sp>
        <p:nvSpPr>
          <p:cNvPr id="5" name="Rounded Rectangle 4"/>
          <p:cNvSpPr/>
          <p:nvPr/>
        </p:nvSpPr>
        <p:spPr>
          <a:xfrm>
            <a:off x="640080" y="1227021"/>
            <a:ext cx="1005840" cy="61468"/>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336792"/>
            <a:ext cx="10058400" cy="276999"/>
          </a:xfrm>
          <a:prstGeom prst="rect">
            <a:avLst/>
          </a:prstGeom>
          <a:noFill/>
        </p:spPr>
        <p:txBody>
          <a:bodyPr wrap="square">
            <a:spAutoFit/>
          </a:bodyPr>
          <a:lstStyle/>
          <a:p>
            <a:pPr>
              <a:defRPr sz="1000" b="0">
                <a:solidFill>
                  <a:srgbClr val="AFC6D7"/>
                </a:solidFill>
                <a:latin typeface="Aptos"/>
              </a:defRPr>
            </a:pPr>
            <a:r>
              <a:rPr lang="en-US" sz="1200" dirty="0"/>
              <a:t>PONCY PAUL  |BATCH : DA52 |  FINAL PROJECT | </a:t>
            </a:r>
            <a:r>
              <a:rPr sz="1200" dirty="0"/>
              <a:t>Source: Uploaded Power BI dashboard PDF • Static screenshot of the interactive report</a:t>
            </a:r>
          </a:p>
        </p:txBody>
      </p:sp>
      <p:sp>
        <p:nvSpPr>
          <p:cNvPr id="9" name="Rounded Rectangle 8"/>
          <p:cNvSpPr/>
          <p:nvPr/>
        </p:nvSpPr>
        <p:spPr>
          <a:xfrm>
            <a:off x="9174480" y="1787828"/>
            <a:ext cx="2582672" cy="3875023"/>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74480" y="2240317"/>
            <a:ext cx="2582672" cy="2970044"/>
          </a:xfrm>
          <a:prstGeom prst="rect">
            <a:avLst/>
          </a:prstGeom>
          <a:noFill/>
        </p:spPr>
        <p:txBody>
          <a:bodyPr wrap="square">
            <a:spAutoFit/>
          </a:bodyPr>
          <a:lstStyle/>
          <a:p>
            <a:pPr>
              <a:defRPr sz="1700" b="0">
                <a:solidFill>
                  <a:srgbClr val="F4F8FD"/>
                </a:solidFill>
                <a:latin typeface="Aptos"/>
              </a:defRPr>
            </a:pPr>
            <a:r>
              <a:rPr lang="en-US" b="1" dirty="0">
                <a:solidFill>
                  <a:srgbClr val="00B0F0"/>
                </a:solidFill>
              </a:rPr>
              <a:t>5 KPI CARDS</a:t>
            </a:r>
          </a:p>
          <a:p>
            <a:pPr>
              <a:defRPr sz="1700" b="0">
                <a:solidFill>
                  <a:srgbClr val="F4F8FD"/>
                </a:solidFill>
                <a:latin typeface="Aptos"/>
              </a:defRPr>
            </a:pPr>
            <a:endParaRPr lang="en-US" b="1" dirty="0"/>
          </a:p>
          <a:p>
            <a:pPr>
              <a:defRPr sz="1700" b="0">
                <a:solidFill>
                  <a:srgbClr val="F4F8FD"/>
                </a:solidFill>
                <a:latin typeface="Aptos"/>
              </a:defRPr>
            </a:pPr>
            <a:r>
              <a:rPr dirty="0"/>
              <a:t>50,000  Total Orders</a:t>
            </a:r>
          </a:p>
          <a:p>
            <a:pPr>
              <a:defRPr sz="1700" b="0">
                <a:solidFill>
                  <a:srgbClr val="F4F8FD"/>
                </a:solidFill>
                <a:latin typeface="Aptos"/>
              </a:defRPr>
            </a:pPr>
            <a:r>
              <a:rPr dirty="0"/>
              <a:t>1.28  Avg Delivery Delay</a:t>
            </a:r>
          </a:p>
          <a:p>
            <a:pPr>
              <a:defRPr sz="1700" b="0">
                <a:solidFill>
                  <a:srgbClr val="F4F8FD"/>
                </a:solidFill>
                <a:latin typeface="Aptos"/>
              </a:defRPr>
            </a:pPr>
            <a:r>
              <a:rPr dirty="0"/>
              <a:t>$120.52  Avg Shipping Cost</a:t>
            </a:r>
          </a:p>
          <a:p>
            <a:pPr>
              <a:defRPr sz="1700" b="0">
                <a:solidFill>
                  <a:srgbClr val="F4F8FD"/>
                </a:solidFill>
                <a:latin typeface="Aptos"/>
              </a:defRPr>
            </a:pPr>
            <a:r>
              <a:rPr dirty="0"/>
              <a:t>3.37  Avg Customer Rating</a:t>
            </a:r>
          </a:p>
          <a:p>
            <a:pPr>
              <a:defRPr sz="1700" b="0">
                <a:solidFill>
                  <a:srgbClr val="F4F8FD"/>
                </a:solidFill>
                <a:latin typeface="Aptos"/>
              </a:defRPr>
            </a:pPr>
            <a:r>
              <a:rPr dirty="0"/>
              <a:t>17.3%  Return Rate</a:t>
            </a:r>
            <a:endParaRPr lang="en-US" dirty="0"/>
          </a:p>
          <a:p>
            <a:pPr>
              <a:defRPr sz="1700" b="0">
                <a:solidFill>
                  <a:srgbClr val="F4F8FD"/>
                </a:solidFill>
                <a:latin typeface="Aptos"/>
              </a:defRPr>
            </a:pPr>
            <a:endParaRPr lang="en-US" dirty="0"/>
          </a:p>
          <a:p>
            <a:pPr>
              <a:defRPr sz="1700" b="0">
                <a:solidFill>
                  <a:srgbClr val="F4F8FD"/>
                </a:solidFill>
                <a:latin typeface="Aptos"/>
              </a:defRPr>
            </a:pPr>
            <a:r>
              <a:rPr lang="en-AE" b="1" dirty="0">
                <a:solidFill>
                  <a:srgbClr val="00B0F0"/>
                </a:solidFill>
              </a:rPr>
              <a:t>5 SLICERS</a:t>
            </a:r>
          </a:p>
          <a:p>
            <a:pPr>
              <a:defRPr sz="1700" b="0">
                <a:solidFill>
                  <a:srgbClr val="F4F8FD"/>
                </a:solidFill>
                <a:latin typeface="Aptos"/>
              </a:defRPr>
            </a:pPr>
            <a:endParaRPr lang="en-US" dirty="0"/>
          </a:p>
          <a:p>
            <a:pPr>
              <a:defRPr sz="1700" b="0">
                <a:solidFill>
                  <a:srgbClr val="F4F8FD"/>
                </a:solidFill>
                <a:latin typeface="Aptos"/>
              </a:defRPr>
            </a:pPr>
            <a:r>
              <a:rPr lang="en-US" b="1" dirty="0">
                <a:solidFill>
                  <a:srgbClr val="00B0F0"/>
                </a:solidFill>
              </a:rPr>
              <a:t>8</a:t>
            </a:r>
            <a:r>
              <a:rPr lang="en-AE" b="1" dirty="0">
                <a:solidFill>
                  <a:srgbClr val="00B0F0"/>
                </a:solidFill>
              </a:rPr>
              <a:t> ANALYSING CHARTS</a:t>
            </a:r>
            <a:endParaRPr b="1" dirty="0">
              <a:solidFill>
                <a:srgbClr val="00B0F0"/>
              </a:solidFill>
            </a:endParaRPr>
          </a:p>
        </p:txBody>
      </p:sp>
      <p:pic>
        <p:nvPicPr>
          <p:cNvPr id="13" name="Picture 12">
            <a:extLst>
              <a:ext uri="{FF2B5EF4-FFF2-40B4-BE49-F238E27FC236}">
                <a16:creationId xmlns:a16="http://schemas.microsoft.com/office/drawing/2014/main" id="{52F2874A-CAF6-43E1-B989-54A5C25728E4}"/>
              </a:ext>
            </a:extLst>
          </p:cNvPr>
          <p:cNvPicPr>
            <a:picLocks noChangeAspect="1"/>
          </p:cNvPicPr>
          <p:nvPr/>
        </p:nvPicPr>
        <p:blipFill>
          <a:blip r:embed="rId3"/>
          <a:stretch>
            <a:fillRect/>
          </a:stretch>
        </p:blipFill>
        <p:spPr>
          <a:xfrm>
            <a:off x="548640" y="1511191"/>
            <a:ext cx="8422640" cy="470993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09728"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09296"/>
            <a:ext cx="10058400" cy="320040"/>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822960"/>
          </a:xfrm>
          <a:prstGeom prst="rect">
            <a:avLst/>
          </a:prstGeom>
          <a:noFill/>
        </p:spPr>
        <p:txBody>
          <a:bodyPr wrap="square">
            <a:spAutoFit/>
          </a:bodyPr>
          <a:lstStyle/>
          <a:p>
            <a:pPr>
              <a:defRPr sz="3000" b="1">
                <a:solidFill>
                  <a:srgbClr val="F4F8FD"/>
                </a:solidFill>
                <a:latin typeface="Aptos"/>
              </a:defRPr>
            </a:pPr>
            <a:r>
              <a:t>FINAL PROJECT REPORT  /  DOCUMENTATION</a:t>
            </a:r>
          </a:p>
        </p:txBody>
      </p:sp>
      <p:sp>
        <p:nvSpPr>
          <p:cNvPr id="5" name="Rounded Rectangle 4"/>
          <p:cNvSpPr/>
          <p:nvPr/>
        </p:nvSpPr>
        <p:spPr>
          <a:xfrm>
            <a:off x="594360" y="1627632"/>
            <a:ext cx="1005840" cy="59436"/>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336792"/>
            <a:ext cx="10058400" cy="276999"/>
          </a:xfrm>
          <a:prstGeom prst="rect">
            <a:avLst/>
          </a:prstGeom>
          <a:noFill/>
        </p:spPr>
        <p:txBody>
          <a:bodyPr wrap="square">
            <a:spAutoFit/>
          </a:bodyPr>
          <a:lstStyle/>
          <a:p>
            <a:pPr>
              <a:defRPr sz="1000" b="0">
                <a:solidFill>
                  <a:srgbClr val="AFC6D7"/>
                </a:solidFill>
                <a:latin typeface="Aptos"/>
              </a:defRPr>
            </a:pPr>
            <a:r>
              <a:rPr lang="en-US" sz="1200" dirty="0"/>
              <a:t>PONCY PAUL  |BATCH : DA52 |  FINAL PROJECT | </a:t>
            </a:r>
            <a:r>
              <a:rPr sz="1200" dirty="0"/>
              <a:t>Source: Final Project Report • 19 PDF pages (17 numbered content pages plus cover and index</a:t>
            </a:r>
            <a:r>
              <a:rPr dirty="0"/>
              <a:t>)</a:t>
            </a:r>
          </a:p>
        </p:txBody>
      </p:sp>
      <p:sp>
        <p:nvSpPr>
          <p:cNvPr id="7" name="Rounded Rectangle 6"/>
          <p:cNvSpPr/>
          <p:nvPr/>
        </p:nvSpPr>
        <p:spPr>
          <a:xfrm>
            <a:off x="640080" y="1965960"/>
            <a:ext cx="5230368" cy="160020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148840"/>
            <a:ext cx="4754880" cy="365760"/>
          </a:xfrm>
          <a:prstGeom prst="rect">
            <a:avLst/>
          </a:prstGeom>
          <a:noFill/>
        </p:spPr>
        <p:txBody>
          <a:bodyPr wrap="square">
            <a:spAutoFit/>
          </a:bodyPr>
          <a:lstStyle/>
          <a:p>
            <a:pPr>
              <a:defRPr sz="1700" b="1">
                <a:solidFill>
                  <a:srgbClr val="28E1C9"/>
                </a:solidFill>
                <a:latin typeface="Aptos"/>
              </a:defRPr>
            </a:pPr>
            <a:r>
              <a:t>BACKGROUND &amp; OBJECTIVES</a:t>
            </a:r>
          </a:p>
        </p:txBody>
      </p:sp>
      <p:sp>
        <p:nvSpPr>
          <p:cNvPr id="9" name="TextBox 8"/>
          <p:cNvSpPr txBox="1"/>
          <p:nvPr/>
        </p:nvSpPr>
        <p:spPr>
          <a:xfrm>
            <a:off x="868680" y="2624328"/>
            <a:ext cx="4681728" cy="768096"/>
          </a:xfrm>
          <a:prstGeom prst="rect">
            <a:avLst/>
          </a:prstGeom>
          <a:noFill/>
        </p:spPr>
        <p:txBody>
          <a:bodyPr wrap="square">
            <a:spAutoFit/>
          </a:bodyPr>
          <a:lstStyle/>
          <a:p>
            <a:pPr>
              <a:defRPr sz="1500" b="0">
                <a:solidFill>
                  <a:srgbClr val="F4F8FD"/>
                </a:solidFill>
                <a:latin typeface="Aptos"/>
              </a:defRPr>
            </a:pPr>
            <a:r>
              <a:t>Business context, problem statement and project goals</a:t>
            </a:r>
          </a:p>
        </p:txBody>
      </p:sp>
      <p:sp>
        <p:nvSpPr>
          <p:cNvPr id="10" name="Rounded Rectangle 9"/>
          <p:cNvSpPr/>
          <p:nvPr/>
        </p:nvSpPr>
        <p:spPr>
          <a:xfrm>
            <a:off x="6172200" y="1965960"/>
            <a:ext cx="5230368" cy="160020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2148840"/>
            <a:ext cx="4754880" cy="365760"/>
          </a:xfrm>
          <a:prstGeom prst="rect">
            <a:avLst/>
          </a:prstGeom>
          <a:noFill/>
        </p:spPr>
        <p:txBody>
          <a:bodyPr wrap="square">
            <a:spAutoFit/>
          </a:bodyPr>
          <a:lstStyle/>
          <a:p>
            <a:pPr>
              <a:defRPr sz="1700" b="1">
                <a:solidFill>
                  <a:srgbClr val="28E1C9"/>
                </a:solidFill>
                <a:latin typeface="Aptos"/>
              </a:defRPr>
            </a:pPr>
            <a:r>
              <a:t>DATA PREPARATION</a:t>
            </a:r>
          </a:p>
        </p:txBody>
      </p:sp>
      <p:sp>
        <p:nvSpPr>
          <p:cNvPr id="12" name="TextBox 11"/>
          <p:cNvSpPr txBox="1"/>
          <p:nvPr/>
        </p:nvSpPr>
        <p:spPr>
          <a:xfrm>
            <a:off x="6400800" y="2624328"/>
            <a:ext cx="4681728" cy="768096"/>
          </a:xfrm>
          <a:prstGeom prst="rect">
            <a:avLst/>
          </a:prstGeom>
          <a:noFill/>
        </p:spPr>
        <p:txBody>
          <a:bodyPr wrap="square">
            <a:spAutoFit/>
          </a:bodyPr>
          <a:lstStyle/>
          <a:p>
            <a:pPr>
              <a:defRPr sz="1500" b="0">
                <a:solidFill>
                  <a:srgbClr val="F4F8FD"/>
                </a:solidFill>
                <a:latin typeface="Aptos"/>
              </a:defRPr>
            </a:pPr>
            <a:r>
              <a:t>50,000 orders, 30 original columns, 32 final features; missing values and duplicates</a:t>
            </a:r>
          </a:p>
        </p:txBody>
      </p:sp>
      <p:sp>
        <p:nvSpPr>
          <p:cNvPr id="13" name="Rounded Rectangle 12"/>
          <p:cNvSpPr/>
          <p:nvPr/>
        </p:nvSpPr>
        <p:spPr>
          <a:xfrm>
            <a:off x="640080" y="3794760"/>
            <a:ext cx="5230368" cy="160020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977640"/>
            <a:ext cx="4754880" cy="365760"/>
          </a:xfrm>
          <a:prstGeom prst="rect">
            <a:avLst/>
          </a:prstGeom>
          <a:noFill/>
        </p:spPr>
        <p:txBody>
          <a:bodyPr wrap="square">
            <a:spAutoFit/>
          </a:bodyPr>
          <a:lstStyle/>
          <a:p>
            <a:pPr>
              <a:defRPr sz="1700" b="1">
                <a:solidFill>
                  <a:srgbClr val="28E1C9"/>
                </a:solidFill>
                <a:latin typeface="Aptos"/>
              </a:defRPr>
            </a:pPr>
            <a:r>
              <a:t>ANALYSIS &amp; EVIDENCE</a:t>
            </a:r>
          </a:p>
        </p:txBody>
      </p:sp>
      <p:sp>
        <p:nvSpPr>
          <p:cNvPr id="15" name="TextBox 14"/>
          <p:cNvSpPr txBox="1"/>
          <p:nvPr/>
        </p:nvSpPr>
        <p:spPr>
          <a:xfrm>
            <a:off x="868680" y="4453128"/>
            <a:ext cx="4681728" cy="768096"/>
          </a:xfrm>
          <a:prstGeom prst="rect">
            <a:avLst/>
          </a:prstGeom>
          <a:noFill/>
        </p:spPr>
        <p:txBody>
          <a:bodyPr wrap="square">
            <a:spAutoFit/>
          </a:bodyPr>
          <a:lstStyle/>
          <a:p>
            <a:pPr>
              <a:defRPr sz="1500" b="0">
                <a:solidFill>
                  <a:srgbClr val="F4F8FD"/>
                </a:solidFill>
                <a:latin typeface="Aptos"/>
              </a:defRPr>
            </a:pPr>
            <a:r>
              <a:t>EDA, descriptive summaries, correlation analysis and 12 figures documented in the report</a:t>
            </a:r>
          </a:p>
        </p:txBody>
      </p:sp>
      <p:sp>
        <p:nvSpPr>
          <p:cNvPr id="16" name="Rounded Rectangle 15"/>
          <p:cNvSpPr/>
          <p:nvPr/>
        </p:nvSpPr>
        <p:spPr>
          <a:xfrm>
            <a:off x="6172200" y="3794760"/>
            <a:ext cx="5230368" cy="1600200"/>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3977640"/>
            <a:ext cx="4754880" cy="365760"/>
          </a:xfrm>
          <a:prstGeom prst="rect">
            <a:avLst/>
          </a:prstGeom>
          <a:noFill/>
        </p:spPr>
        <p:txBody>
          <a:bodyPr wrap="square">
            <a:spAutoFit/>
          </a:bodyPr>
          <a:lstStyle/>
          <a:p>
            <a:pPr>
              <a:defRPr sz="1700" b="1">
                <a:solidFill>
                  <a:srgbClr val="28E1C9"/>
                </a:solidFill>
                <a:latin typeface="Aptos"/>
              </a:defRPr>
            </a:pPr>
            <a:r>
              <a:t>FINDINGS &amp; RECOMMENDATIONS</a:t>
            </a:r>
          </a:p>
        </p:txBody>
      </p:sp>
      <p:sp>
        <p:nvSpPr>
          <p:cNvPr id="18" name="TextBox 17"/>
          <p:cNvSpPr txBox="1"/>
          <p:nvPr/>
        </p:nvSpPr>
        <p:spPr>
          <a:xfrm>
            <a:off x="6400800" y="4453128"/>
            <a:ext cx="4681728" cy="768096"/>
          </a:xfrm>
          <a:prstGeom prst="rect">
            <a:avLst/>
          </a:prstGeom>
          <a:noFill/>
        </p:spPr>
        <p:txBody>
          <a:bodyPr wrap="square">
            <a:spAutoFit/>
          </a:bodyPr>
          <a:lstStyle/>
          <a:p>
            <a:pPr>
              <a:defRPr sz="1500" b="0">
                <a:solidFill>
                  <a:srgbClr val="F4F8FD"/>
                </a:solidFill>
                <a:latin typeface="Aptos"/>
              </a:defRPr>
            </a:pPr>
            <a:r>
              <a:t>11 key findings, operational recommendations, conclusion and future scope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09728"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19456"/>
            <a:ext cx="10058400" cy="320040"/>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39496" y="526795"/>
            <a:ext cx="10972800" cy="822960"/>
          </a:xfrm>
          <a:prstGeom prst="rect">
            <a:avLst/>
          </a:prstGeom>
          <a:noFill/>
        </p:spPr>
        <p:txBody>
          <a:bodyPr wrap="square">
            <a:spAutoFit/>
          </a:bodyPr>
          <a:lstStyle/>
          <a:p>
            <a:pPr>
              <a:defRPr sz="3000" b="1">
                <a:solidFill>
                  <a:srgbClr val="F4F8FD"/>
                </a:solidFill>
                <a:latin typeface="Aptos"/>
              </a:defRPr>
            </a:pPr>
            <a:r>
              <a:rPr dirty="0"/>
              <a:t>PROJECT DELIVERABLES  /  END-TO-END WORKFLOW</a:t>
            </a:r>
          </a:p>
        </p:txBody>
      </p:sp>
      <p:sp>
        <p:nvSpPr>
          <p:cNvPr id="5" name="Rounded Rectangle 4"/>
          <p:cNvSpPr/>
          <p:nvPr/>
        </p:nvSpPr>
        <p:spPr>
          <a:xfrm>
            <a:off x="594360" y="1114936"/>
            <a:ext cx="1005840" cy="59436"/>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336792"/>
            <a:ext cx="100584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Rounded Rectangle 6"/>
          <p:cNvSpPr/>
          <p:nvPr/>
        </p:nvSpPr>
        <p:spPr>
          <a:xfrm>
            <a:off x="685800" y="2297812"/>
            <a:ext cx="10835640" cy="8869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570862"/>
            <a:ext cx="4069080" cy="353943"/>
          </a:xfrm>
          <a:prstGeom prst="rect">
            <a:avLst/>
          </a:prstGeom>
          <a:noFill/>
        </p:spPr>
        <p:txBody>
          <a:bodyPr wrap="square">
            <a:spAutoFit/>
          </a:bodyPr>
          <a:lstStyle/>
          <a:p>
            <a:pPr>
              <a:defRPr sz="1700" b="1">
                <a:solidFill>
                  <a:srgbClr val="28E1C9"/>
                </a:solidFill>
                <a:latin typeface="Aptos"/>
              </a:defRPr>
            </a:pPr>
            <a:r>
              <a:rPr dirty="0"/>
              <a:t>0</a:t>
            </a:r>
            <a:r>
              <a:rPr lang="en-US" dirty="0"/>
              <a:t>2</a:t>
            </a:r>
            <a:r>
              <a:rPr dirty="0"/>
              <a:t>  PYTHON NOTEBOOK</a:t>
            </a:r>
          </a:p>
        </p:txBody>
      </p:sp>
      <p:sp>
        <p:nvSpPr>
          <p:cNvPr id="9" name="TextBox 8"/>
          <p:cNvSpPr txBox="1"/>
          <p:nvPr/>
        </p:nvSpPr>
        <p:spPr>
          <a:xfrm>
            <a:off x="4572000" y="2616518"/>
            <a:ext cx="6510528" cy="475488"/>
          </a:xfrm>
          <a:prstGeom prst="rect">
            <a:avLst/>
          </a:prstGeom>
          <a:noFill/>
        </p:spPr>
        <p:txBody>
          <a:bodyPr wrap="square">
            <a:spAutoFit/>
          </a:bodyPr>
          <a:lstStyle/>
          <a:p>
            <a:pPr>
              <a:defRPr sz="1600" b="0">
                <a:solidFill>
                  <a:srgbClr val="F4F8FD"/>
                </a:solidFill>
                <a:latin typeface="Aptos"/>
              </a:defRPr>
            </a:pPr>
            <a:r>
              <a:rPr dirty="0"/>
              <a:t>14 saved charts; exploratory analysis and calculations</a:t>
            </a:r>
          </a:p>
        </p:txBody>
      </p:sp>
      <p:sp>
        <p:nvSpPr>
          <p:cNvPr id="10" name="Rounded Rectangle 9"/>
          <p:cNvSpPr/>
          <p:nvPr/>
        </p:nvSpPr>
        <p:spPr>
          <a:xfrm>
            <a:off x="685800" y="3305938"/>
            <a:ext cx="10835640" cy="8869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 y="3538730"/>
            <a:ext cx="4069080" cy="353943"/>
          </a:xfrm>
          <a:prstGeom prst="rect">
            <a:avLst/>
          </a:prstGeom>
          <a:noFill/>
        </p:spPr>
        <p:txBody>
          <a:bodyPr wrap="square">
            <a:spAutoFit/>
          </a:bodyPr>
          <a:lstStyle/>
          <a:p>
            <a:pPr>
              <a:defRPr sz="1700" b="1">
                <a:solidFill>
                  <a:srgbClr val="28E1C9"/>
                </a:solidFill>
                <a:latin typeface="Aptos"/>
              </a:defRPr>
            </a:pPr>
            <a:r>
              <a:rPr dirty="0"/>
              <a:t>0</a:t>
            </a:r>
            <a:r>
              <a:rPr lang="en-US" dirty="0"/>
              <a:t>3</a:t>
            </a:r>
            <a:r>
              <a:rPr dirty="0"/>
              <a:t>  POWER BI DASHBOARD</a:t>
            </a:r>
          </a:p>
        </p:txBody>
      </p:sp>
      <p:sp>
        <p:nvSpPr>
          <p:cNvPr id="12" name="TextBox 11"/>
          <p:cNvSpPr txBox="1"/>
          <p:nvPr/>
        </p:nvSpPr>
        <p:spPr>
          <a:xfrm>
            <a:off x="4572000" y="3546349"/>
            <a:ext cx="6510528" cy="475488"/>
          </a:xfrm>
          <a:prstGeom prst="rect">
            <a:avLst/>
          </a:prstGeom>
          <a:noFill/>
        </p:spPr>
        <p:txBody>
          <a:bodyPr wrap="square">
            <a:spAutoFit/>
          </a:bodyPr>
          <a:lstStyle/>
          <a:p>
            <a:pPr>
              <a:defRPr sz="1600" b="0">
                <a:solidFill>
                  <a:srgbClr val="F4F8FD"/>
                </a:solidFill>
                <a:latin typeface="Aptos"/>
              </a:defRPr>
            </a:pPr>
            <a:r>
              <a:rPr dirty="0"/>
              <a:t>KPI cards, filters and visual business monitoring</a:t>
            </a:r>
          </a:p>
        </p:txBody>
      </p:sp>
      <p:sp>
        <p:nvSpPr>
          <p:cNvPr id="13" name="Rounded Rectangle 12"/>
          <p:cNvSpPr/>
          <p:nvPr/>
        </p:nvSpPr>
        <p:spPr>
          <a:xfrm>
            <a:off x="676656" y="4328161"/>
            <a:ext cx="10835640" cy="8869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 y="4587241"/>
            <a:ext cx="4069080" cy="353943"/>
          </a:xfrm>
          <a:prstGeom prst="rect">
            <a:avLst/>
          </a:prstGeom>
          <a:noFill/>
        </p:spPr>
        <p:txBody>
          <a:bodyPr wrap="square">
            <a:spAutoFit/>
          </a:bodyPr>
          <a:lstStyle/>
          <a:p>
            <a:pPr>
              <a:defRPr sz="1700" b="1">
                <a:solidFill>
                  <a:srgbClr val="28E1C9"/>
                </a:solidFill>
                <a:latin typeface="Aptos"/>
              </a:defRPr>
            </a:pPr>
            <a:r>
              <a:rPr dirty="0"/>
              <a:t>0</a:t>
            </a:r>
            <a:r>
              <a:rPr lang="en-US" dirty="0"/>
              <a:t>4</a:t>
            </a:r>
            <a:r>
              <a:rPr dirty="0"/>
              <a:t>  PROJECT REPORT</a:t>
            </a:r>
          </a:p>
        </p:txBody>
      </p:sp>
      <p:sp>
        <p:nvSpPr>
          <p:cNvPr id="15" name="TextBox 14"/>
          <p:cNvSpPr txBox="1"/>
          <p:nvPr/>
        </p:nvSpPr>
        <p:spPr>
          <a:xfrm>
            <a:off x="4572000" y="4598671"/>
            <a:ext cx="6510528" cy="475488"/>
          </a:xfrm>
          <a:prstGeom prst="rect">
            <a:avLst/>
          </a:prstGeom>
          <a:noFill/>
        </p:spPr>
        <p:txBody>
          <a:bodyPr wrap="square">
            <a:spAutoFit/>
          </a:bodyPr>
          <a:lstStyle/>
          <a:p>
            <a:pPr>
              <a:defRPr sz="1600" b="0">
                <a:solidFill>
                  <a:srgbClr val="F4F8FD"/>
                </a:solidFill>
                <a:latin typeface="Aptos"/>
              </a:defRPr>
            </a:pPr>
            <a:r>
              <a:rPr dirty="0"/>
              <a:t>19-page PDF documenting methods, 12 figures and 11 findings</a:t>
            </a:r>
          </a:p>
        </p:txBody>
      </p:sp>
      <p:sp>
        <p:nvSpPr>
          <p:cNvPr id="16" name="Rounded Rectangle 15"/>
          <p:cNvSpPr/>
          <p:nvPr/>
        </p:nvSpPr>
        <p:spPr>
          <a:xfrm>
            <a:off x="676656" y="5312663"/>
            <a:ext cx="10835640" cy="8869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1832" y="5577841"/>
            <a:ext cx="4069080" cy="353943"/>
          </a:xfrm>
          <a:prstGeom prst="rect">
            <a:avLst/>
          </a:prstGeom>
          <a:noFill/>
        </p:spPr>
        <p:txBody>
          <a:bodyPr wrap="square">
            <a:spAutoFit/>
          </a:bodyPr>
          <a:lstStyle/>
          <a:p>
            <a:pPr>
              <a:defRPr sz="1700" b="1">
                <a:solidFill>
                  <a:srgbClr val="28E1C9"/>
                </a:solidFill>
                <a:latin typeface="Aptos"/>
              </a:defRPr>
            </a:pPr>
            <a:r>
              <a:rPr dirty="0"/>
              <a:t>0</a:t>
            </a:r>
            <a:r>
              <a:rPr lang="en-US" dirty="0"/>
              <a:t>5</a:t>
            </a:r>
            <a:r>
              <a:rPr dirty="0"/>
              <a:t>  FINAL PRESENTATION</a:t>
            </a:r>
          </a:p>
        </p:txBody>
      </p:sp>
      <p:sp>
        <p:nvSpPr>
          <p:cNvPr id="18" name="TextBox 17"/>
          <p:cNvSpPr txBox="1"/>
          <p:nvPr/>
        </p:nvSpPr>
        <p:spPr>
          <a:xfrm>
            <a:off x="4572000" y="5554980"/>
            <a:ext cx="6510528" cy="475488"/>
          </a:xfrm>
          <a:prstGeom prst="rect">
            <a:avLst/>
          </a:prstGeom>
          <a:noFill/>
        </p:spPr>
        <p:txBody>
          <a:bodyPr wrap="square">
            <a:spAutoFit/>
          </a:bodyPr>
          <a:lstStyle/>
          <a:p>
            <a:pPr>
              <a:defRPr sz="1600" b="0">
                <a:solidFill>
                  <a:srgbClr val="F4F8FD"/>
                </a:solidFill>
                <a:latin typeface="Aptos"/>
              </a:defRPr>
            </a:pPr>
            <a:r>
              <a:rPr dirty="0"/>
              <a:t>Key findings and operational recommendations communicated clearly</a:t>
            </a:r>
          </a:p>
        </p:txBody>
      </p:sp>
      <p:sp>
        <p:nvSpPr>
          <p:cNvPr id="19" name="Rounded Rectangle 6">
            <a:extLst>
              <a:ext uri="{FF2B5EF4-FFF2-40B4-BE49-F238E27FC236}">
                <a16:creationId xmlns:a16="http://schemas.microsoft.com/office/drawing/2014/main" id="{66DB148D-EB4C-4A1F-A021-262366ED1106}"/>
              </a:ext>
            </a:extLst>
          </p:cNvPr>
          <p:cNvSpPr/>
          <p:nvPr/>
        </p:nvSpPr>
        <p:spPr>
          <a:xfrm>
            <a:off x="676656" y="1281304"/>
            <a:ext cx="10835640" cy="8869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700" b="1">
                <a:solidFill>
                  <a:srgbClr val="28E1C9"/>
                </a:solidFill>
                <a:latin typeface="Aptos"/>
              </a:defRPr>
            </a:pPr>
            <a:r>
              <a:rPr lang="en-US" dirty="0"/>
              <a:t>     01  SOURCE DATA					    </a:t>
            </a:r>
            <a:r>
              <a:rPr lang="en-US" sz="1600" dirty="0">
                <a:solidFill>
                  <a:schemeClr val="bg1"/>
                </a:solidFill>
              </a:rPr>
              <a:t>CSV file from Kaggle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60" name="Oval 59"/>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CONCLUSION</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21</a:t>
            </a:r>
          </a:p>
        </p:txBody>
      </p:sp>
      <p:sp>
        <p:nvSpPr>
          <p:cNvPr id="8" name="Rounded Rectangle 7"/>
          <p:cNvSpPr/>
          <p:nvPr/>
        </p:nvSpPr>
        <p:spPr>
          <a:xfrm>
            <a:off x="658368" y="2011680"/>
            <a:ext cx="7744968"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2157984"/>
            <a:ext cx="457200" cy="292608"/>
          </a:xfrm>
          <a:prstGeom prst="rect">
            <a:avLst/>
          </a:prstGeom>
          <a:noFill/>
        </p:spPr>
        <p:txBody>
          <a:bodyPr wrap="square">
            <a:spAutoFit/>
          </a:bodyPr>
          <a:lstStyle/>
          <a:p>
            <a:pPr>
              <a:defRPr sz="1500" b="1">
                <a:solidFill>
                  <a:srgbClr val="28E1C9"/>
                </a:solidFill>
                <a:latin typeface="Aptos"/>
              </a:defRPr>
            </a:pPr>
            <a:r>
              <a:t>01</a:t>
            </a:r>
          </a:p>
        </p:txBody>
      </p:sp>
      <p:sp>
        <p:nvSpPr>
          <p:cNvPr id="10" name="TextBox 9"/>
          <p:cNvSpPr txBox="1"/>
          <p:nvPr/>
        </p:nvSpPr>
        <p:spPr>
          <a:xfrm>
            <a:off x="1463040" y="2139696"/>
            <a:ext cx="6451598" cy="353943"/>
          </a:xfrm>
          <a:prstGeom prst="rect">
            <a:avLst/>
          </a:prstGeom>
          <a:noFill/>
        </p:spPr>
        <p:txBody>
          <a:bodyPr wrap="square">
            <a:spAutoFit/>
          </a:bodyPr>
          <a:lstStyle/>
          <a:p>
            <a:pPr>
              <a:defRPr sz="1700" b="0">
                <a:solidFill>
                  <a:srgbClr val="F4F8FD"/>
                </a:solidFill>
                <a:latin typeface="Aptos"/>
              </a:defRPr>
            </a:pPr>
            <a:r>
              <a:t>Python EDA converted order-level records into meaningful insights.</a:t>
            </a:r>
          </a:p>
        </p:txBody>
      </p:sp>
      <p:sp>
        <p:nvSpPr>
          <p:cNvPr id="11" name="Rounded Rectangle 10"/>
          <p:cNvSpPr/>
          <p:nvPr/>
        </p:nvSpPr>
        <p:spPr>
          <a:xfrm>
            <a:off x="617221" y="2766060"/>
            <a:ext cx="7835899"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953512"/>
            <a:ext cx="457200" cy="292608"/>
          </a:xfrm>
          <a:prstGeom prst="rect">
            <a:avLst/>
          </a:prstGeom>
          <a:noFill/>
        </p:spPr>
        <p:txBody>
          <a:bodyPr wrap="square">
            <a:spAutoFit/>
          </a:bodyPr>
          <a:lstStyle/>
          <a:p>
            <a:pPr>
              <a:defRPr sz="1500" b="1">
                <a:solidFill>
                  <a:srgbClr val="28E1C9"/>
                </a:solidFill>
                <a:latin typeface="Aptos"/>
              </a:defRPr>
            </a:pPr>
            <a:r>
              <a:t>02</a:t>
            </a:r>
          </a:p>
        </p:txBody>
      </p:sp>
      <p:sp>
        <p:nvSpPr>
          <p:cNvPr id="13" name="TextBox 12"/>
          <p:cNvSpPr txBox="1"/>
          <p:nvPr/>
        </p:nvSpPr>
        <p:spPr>
          <a:xfrm>
            <a:off x="1463040" y="2935224"/>
            <a:ext cx="6990589" cy="353943"/>
          </a:xfrm>
          <a:prstGeom prst="rect">
            <a:avLst/>
          </a:prstGeom>
          <a:noFill/>
        </p:spPr>
        <p:txBody>
          <a:bodyPr wrap="square">
            <a:spAutoFit/>
          </a:bodyPr>
          <a:lstStyle/>
          <a:p>
            <a:pPr>
              <a:defRPr sz="1700" b="0">
                <a:solidFill>
                  <a:srgbClr val="F4F8FD"/>
                </a:solidFill>
                <a:latin typeface="Aptos"/>
              </a:defRPr>
            </a:pPr>
            <a:r>
              <a:t>Delivery speed, shipping cost and customer experience are interconnected.</a:t>
            </a:r>
          </a:p>
        </p:txBody>
      </p:sp>
      <p:sp>
        <p:nvSpPr>
          <p:cNvPr id="14" name="Rounded Rectangle 13"/>
          <p:cNvSpPr/>
          <p:nvPr/>
        </p:nvSpPr>
        <p:spPr>
          <a:xfrm>
            <a:off x="658368" y="3602736"/>
            <a:ext cx="7794752"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3749040"/>
            <a:ext cx="457200" cy="292608"/>
          </a:xfrm>
          <a:prstGeom prst="rect">
            <a:avLst/>
          </a:prstGeom>
          <a:noFill/>
        </p:spPr>
        <p:txBody>
          <a:bodyPr wrap="square">
            <a:spAutoFit/>
          </a:bodyPr>
          <a:lstStyle/>
          <a:p>
            <a:pPr>
              <a:defRPr sz="1500" b="1">
                <a:solidFill>
                  <a:srgbClr val="28E1C9"/>
                </a:solidFill>
                <a:latin typeface="Aptos"/>
              </a:defRPr>
            </a:pPr>
            <a:r>
              <a:t>03</a:t>
            </a:r>
          </a:p>
        </p:txBody>
      </p:sp>
      <p:sp>
        <p:nvSpPr>
          <p:cNvPr id="16" name="TextBox 15"/>
          <p:cNvSpPr txBox="1"/>
          <p:nvPr/>
        </p:nvSpPr>
        <p:spPr>
          <a:xfrm>
            <a:off x="1463040" y="3730752"/>
            <a:ext cx="6912864" cy="353943"/>
          </a:xfrm>
          <a:prstGeom prst="rect">
            <a:avLst/>
          </a:prstGeom>
          <a:noFill/>
        </p:spPr>
        <p:txBody>
          <a:bodyPr wrap="square">
            <a:spAutoFit/>
          </a:bodyPr>
          <a:lstStyle/>
          <a:p>
            <a:pPr>
              <a:defRPr sz="1700" b="0">
                <a:solidFill>
                  <a:srgbClr val="F4F8FD"/>
                </a:solidFill>
                <a:latin typeface="Aptos"/>
              </a:defRPr>
            </a:pPr>
            <a:r>
              <a:t>Findings help prioritize logistics improvement opportunities.</a:t>
            </a:r>
          </a:p>
        </p:txBody>
      </p:sp>
      <p:sp>
        <p:nvSpPr>
          <p:cNvPr id="17" name="Rounded Rectangle 16"/>
          <p:cNvSpPr/>
          <p:nvPr/>
        </p:nvSpPr>
        <p:spPr>
          <a:xfrm>
            <a:off x="658368" y="4398264"/>
            <a:ext cx="7808977" cy="658368"/>
          </a:xfrm>
          <a:prstGeom prst="roundRect">
            <a:avLst/>
          </a:prstGeom>
          <a:solidFill>
            <a:srgbClr val="112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9536" y="4544568"/>
            <a:ext cx="457200" cy="292608"/>
          </a:xfrm>
          <a:prstGeom prst="rect">
            <a:avLst/>
          </a:prstGeom>
          <a:noFill/>
        </p:spPr>
        <p:txBody>
          <a:bodyPr wrap="square">
            <a:spAutoFit/>
          </a:bodyPr>
          <a:lstStyle/>
          <a:p>
            <a:pPr>
              <a:defRPr sz="1500" b="1">
                <a:solidFill>
                  <a:srgbClr val="28E1C9"/>
                </a:solidFill>
                <a:latin typeface="Aptos"/>
              </a:defRPr>
            </a:pPr>
            <a:r>
              <a:t>04</a:t>
            </a:r>
          </a:p>
        </p:txBody>
      </p:sp>
      <p:sp>
        <p:nvSpPr>
          <p:cNvPr id="19" name="TextBox 18"/>
          <p:cNvSpPr txBox="1"/>
          <p:nvPr/>
        </p:nvSpPr>
        <p:spPr>
          <a:xfrm>
            <a:off x="1463040" y="4526280"/>
            <a:ext cx="6821418" cy="353943"/>
          </a:xfrm>
          <a:prstGeom prst="rect">
            <a:avLst/>
          </a:prstGeom>
          <a:noFill/>
        </p:spPr>
        <p:txBody>
          <a:bodyPr wrap="square">
            <a:spAutoFit/>
          </a:bodyPr>
          <a:lstStyle/>
          <a:p>
            <a:pPr>
              <a:defRPr sz="1700" b="0">
                <a:solidFill>
                  <a:srgbClr val="F4F8FD"/>
                </a:solidFill>
                <a:latin typeface="Aptos"/>
              </a:defRPr>
            </a:pPr>
            <a:r>
              <a:t>Further work could explore forecasting and interactive monitoring.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81425"/>
        </a:solidFill>
        <a:effectLst/>
      </p:bgPr>
    </p:bg>
    <p:spTree>
      <p:nvGrpSpPr>
        <p:cNvPr id="1" name=""/>
        <p:cNvGrpSpPr/>
        <p:nvPr/>
      </p:nvGrpSpPr>
      <p:grpSpPr>
        <a:xfrm>
          <a:off x="0" y="0"/>
          <a:ext cx="0" cy="0"/>
          <a:chOff x="0" y="0"/>
          <a:chExt cx="0" cy="0"/>
        </a:xfrm>
      </p:grpSpPr>
      <p:sp>
        <p:nvSpPr>
          <p:cNvPr id="50" name="Oval 49"/>
          <p:cNvSpPr/>
          <p:nvPr/>
        </p:nvSpPr>
        <p:spPr>
          <a:xfrm>
            <a:off x="815644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77240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388352"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004304"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620256"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236208"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852160" y="265176"/>
            <a:ext cx="38404" cy="3840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008108" y="625906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471148" y="561898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185148" y="46131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288268" y="3698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596628" y="27843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425428" y="18242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602468" y="90982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139428" y="269748"/>
            <a:ext cx="100584" cy="100584"/>
          </a:xfrm>
          <a:prstGeom prst="ellipse">
            <a:avLst/>
          </a:prstGeom>
          <a:solidFill>
            <a:srgbClr val="1C6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34"/>
          <p:cNvCxnSpPr/>
          <p:nvPr/>
        </p:nvCxnSpPr>
        <p:spPr>
          <a:xfrm flipH="1">
            <a:off x="10058400" y="566928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4663440"/>
            <a:ext cx="2286000" cy="100584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235440" y="3749039"/>
            <a:ext cx="2103120" cy="91440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646920" y="2834640"/>
            <a:ext cx="169164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9646920" y="1874519"/>
            <a:ext cx="1828800" cy="960121"/>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652760" y="960120"/>
            <a:ext cx="822960" cy="914399"/>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189720" y="320040"/>
            <a:ext cx="1463040" cy="640080"/>
          </a:xfrm>
          <a:prstGeom prst="line">
            <a:avLst/>
          </a:prstGeom>
          <a:ln w="21590">
            <a:solidFill>
              <a:srgbClr val="1C687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86800" y="608076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86800" y="551383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86800" y="494690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437997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381304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686800" y="324612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86800" y="2679192"/>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686800" y="2112264"/>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545336"/>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686800" y="978408"/>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86800" y="411480"/>
            <a:ext cx="3429000" cy="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4887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14653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74420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341864"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939528"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537192"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134856"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732520" y="0"/>
            <a:ext cx="0" cy="6858000"/>
          </a:xfrm>
          <a:prstGeom prst="line">
            <a:avLst/>
          </a:prstGeom>
          <a:ln w="6985">
            <a:solidFill>
              <a:srgbClr val="0E2F44"/>
            </a:solidFill>
          </a:ln>
        </p:spPr>
        <p:style>
          <a:lnRef idx="2">
            <a:schemeClr val="accent1"/>
          </a:lnRef>
          <a:fillRef idx="0">
            <a:schemeClr val="accent1"/>
          </a:fillRef>
          <a:effectRef idx="1">
            <a:schemeClr val="accent1"/>
          </a:effectRef>
          <a:fontRef idx="minor">
            <a:schemeClr val="tx1"/>
          </a:fontRef>
        </p:style>
      </p:cxnSp>
      <p:sp>
        <p:nvSpPr>
          <p:cNvPr id="2" name="Rounded Rectangle 1"/>
          <p:cNvSpPr/>
          <p:nvPr/>
        </p:nvSpPr>
        <p:spPr>
          <a:xfrm>
            <a:off x="0" y="0"/>
            <a:ext cx="100584" cy="6858000"/>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307777"/>
          </a:xfrm>
          <a:prstGeom prst="rect">
            <a:avLst/>
          </a:prstGeom>
          <a:noFill/>
        </p:spPr>
        <p:txBody>
          <a:bodyPr wrap="square">
            <a:spAutoFit/>
          </a:bodyPr>
          <a:lstStyle/>
          <a:p>
            <a:pPr>
              <a:defRPr sz="3100" b="1">
                <a:solidFill>
                  <a:srgbClr val="F4F8FD"/>
                </a:solidFill>
                <a:latin typeface="Aptos"/>
              </a:defRPr>
            </a:pPr>
            <a:r>
              <a:rPr lang="en-US" sz="1400" dirty="0">
                <a:solidFill>
                  <a:srgbClr val="00B0F0"/>
                </a:solidFill>
              </a:rPr>
              <a:t>E-COMMERCE DELIVERY &amp; SHIPPING PERFORMANCE ANALYSIS</a:t>
            </a:r>
          </a:p>
        </p:txBody>
      </p:sp>
      <p:sp>
        <p:nvSpPr>
          <p:cNvPr id="4" name="TextBox 3"/>
          <p:cNvSpPr txBox="1"/>
          <p:nvPr/>
        </p:nvSpPr>
        <p:spPr>
          <a:xfrm>
            <a:off x="548640" y="731520"/>
            <a:ext cx="10972800" cy="914400"/>
          </a:xfrm>
          <a:prstGeom prst="rect">
            <a:avLst/>
          </a:prstGeom>
          <a:noFill/>
        </p:spPr>
        <p:txBody>
          <a:bodyPr wrap="square">
            <a:spAutoFit/>
          </a:bodyPr>
          <a:lstStyle/>
          <a:p>
            <a:pPr>
              <a:defRPr sz="3100" b="1">
                <a:solidFill>
                  <a:srgbClr val="F4F8FD"/>
                </a:solidFill>
                <a:latin typeface="Aptos"/>
              </a:defRPr>
            </a:pPr>
            <a:r>
              <a:t>THANK YOU  /  QUESTIONS</a:t>
            </a:r>
          </a:p>
        </p:txBody>
      </p:sp>
      <p:sp>
        <p:nvSpPr>
          <p:cNvPr id="5" name="Rounded Rectangle 4"/>
          <p:cNvSpPr/>
          <p:nvPr/>
        </p:nvSpPr>
        <p:spPr>
          <a:xfrm>
            <a:off x="576072" y="1682496"/>
            <a:ext cx="1051560" cy="50292"/>
          </a:xfrm>
          <a:prstGeom prst="roundRect">
            <a:avLst/>
          </a:prstGeom>
          <a:solidFill>
            <a:srgbClr val="28E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537960"/>
            <a:ext cx="8229600" cy="276999"/>
          </a:xfrm>
          <a:prstGeom prst="rect">
            <a:avLst/>
          </a:prstGeom>
          <a:noFill/>
        </p:spPr>
        <p:txBody>
          <a:bodyPr wrap="square">
            <a:spAutoFit/>
          </a:bodyPr>
          <a:lstStyle/>
          <a:p>
            <a:pPr>
              <a:defRPr sz="900" b="0">
                <a:solidFill>
                  <a:srgbClr val="AFC6D7"/>
                </a:solidFill>
                <a:latin typeface="Aptos"/>
              </a:defRPr>
            </a:pPr>
            <a:r>
              <a:rPr lang="en-US" sz="1200" dirty="0"/>
              <a:t>PONCY PAUL  |BATCH : DA52 |  FINAL PROJECT</a:t>
            </a:r>
          </a:p>
        </p:txBody>
      </p:sp>
      <p:sp>
        <p:nvSpPr>
          <p:cNvPr id="7" name="TextBox 6"/>
          <p:cNvSpPr txBox="1"/>
          <p:nvPr/>
        </p:nvSpPr>
        <p:spPr>
          <a:xfrm>
            <a:off x="11201400" y="6510528"/>
            <a:ext cx="457200" cy="228600"/>
          </a:xfrm>
          <a:prstGeom prst="rect">
            <a:avLst/>
          </a:prstGeom>
          <a:noFill/>
        </p:spPr>
        <p:txBody>
          <a:bodyPr wrap="square">
            <a:spAutoFit/>
          </a:bodyPr>
          <a:lstStyle/>
          <a:p>
            <a:pPr>
              <a:defRPr sz="1000" b="1">
                <a:solidFill>
                  <a:srgbClr val="28E1C9"/>
                </a:solidFill>
                <a:latin typeface="Aptos"/>
              </a:defRPr>
            </a:pPr>
            <a:r>
              <a:t>22</a:t>
            </a:r>
          </a:p>
        </p:txBody>
      </p:sp>
      <p:sp>
        <p:nvSpPr>
          <p:cNvPr id="8" name="TextBox 7"/>
          <p:cNvSpPr txBox="1"/>
          <p:nvPr/>
        </p:nvSpPr>
        <p:spPr>
          <a:xfrm>
            <a:off x="731520" y="2468880"/>
            <a:ext cx="10058400" cy="731520"/>
          </a:xfrm>
          <a:prstGeom prst="rect">
            <a:avLst/>
          </a:prstGeom>
          <a:noFill/>
        </p:spPr>
        <p:txBody>
          <a:bodyPr wrap="square">
            <a:spAutoFit/>
          </a:bodyPr>
          <a:lstStyle/>
          <a:p>
            <a:pPr>
              <a:defRPr sz="3400" b="1">
                <a:solidFill>
                  <a:srgbClr val="28E1C9"/>
                </a:solidFill>
                <a:latin typeface="Aptos"/>
              </a:defRPr>
            </a:pPr>
            <a:r>
              <a:t>Thank you for your time.</a:t>
            </a:r>
          </a:p>
        </p:txBody>
      </p:sp>
      <p:sp>
        <p:nvSpPr>
          <p:cNvPr id="9" name="TextBox 8"/>
          <p:cNvSpPr txBox="1"/>
          <p:nvPr/>
        </p:nvSpPr>
        <p:spPr>
          <a:xfrm>
            <a:off x="731520" y="3429000"/>
            <a:ext cx="10058400" cy="640080"/>
          </a:xfrm>
          <a:prstGeom prst="rect">
            <a:avLst/>
          </a:prstGeom>
          <a:noFill/>
        </p:spPr>
        <p:txBody>
          <a:bodyPr wrap="square">
            <a:spAutoFit/>
          </a:bodyPr>
          <a:lstStyle/>
          <a:p>
            <a:pPr>
              <a:defRPr sz="2300" b="0">
                <a:solidFill>
                  <a:srgbClr val="F4F8FD"/>
                </a:solidFill>
                <a:latin typeface="Aptos"/>
              </a:defRPr>
            </a:pPr>
            <a:r>
              <a:t>I am happy to answer your questions.</a:t>
            </a:r>
          </a:p>
        </p:txBody>
      </p:sp>
      <p:sp>
        <p:nvSpPr>
          <p:cNvPr id="51" name="TextBox 50"/>
          <p:cNvSpPr txBox="1"/>
          <p:nvPr/>
        </p:nvSpPr>
        <p:spPr>
          <a:xfrm>
            <a:off x="685800" y="5989320"/>
            <a:ext cx="8229600" cy="320040"/>
          </a:xfrm>
          <a:prstGeom prst="rect">
            <a:avLst/>
          </a:prstGeom>
          <a:noFill/>
        </p:spPr>
        <p:txBody>
          <a:bodyPr wrap="none">
            <a:spAutoFit/>
          </a:bodyPr>
          <a:lstStyle/>
          <a:p>
            <a:pPr>
              <a:defRPr sz="1300" b="0">
                <a:solidFill>
                  <a:srgbClr val="B2CCD8"/>
                </a:solidFill>
                <a:latin typeface="Aptos"/>
              </a:defRPr>
            </a:pPr>
            <a:r>
              <a:t>Faculty: Anusha H   |   Coordinator: Sona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3343</Words>
  <Application>Microsoft Office PowerPoint</Application>
  <PresentationFormat>Widescreen</PresentationFormat>
  <Paragraphs>333</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Jishnudev T D</dc:creator>
  <cp:keywords/>
  <dc:description>generated using python-pptx</dc:description>
  <cp:lastModifiedBy>Jishnudev Thekkumthala Devadas (Energy)</cp:lastModifiedBy>
  <cp:revision>10</cp:revision>
  <dcterms:created xsi:type="dcterms:W3CDTF">2013-01-27T09:14:16Z</dcterms:created>
  <dcterms:modified xsi:type="dcterms:W3CDTF">2026-10-08T17:41:58Z</dcterms:modified>
  <cp:category/>
</cp:coreProperties>
</file>